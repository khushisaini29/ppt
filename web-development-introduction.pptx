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c8bf8ceb1043b6" /><Relationship Type="http://schemas.openxmlformats.org/officeDocument/2006/relationships/extended-properties" Target="/docProps/app.xml" Id="Rd56b57b88e914adc" /><Relationship Type="http://schemas.openxmlformats.org/officeDocument/2006/relationships/officeDocument" Target="/ppt/presentation.xml" Id="R0324b18c0d9d41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6d984bcc4e46bf"/>
  </p:sldMasterIdLst>
  <p:notesMasterIdLst>
    <p:notesMasterId xmlns:r="http://schemas.openxmlformats.org/officeDocument/2006/relationships" r:id="R74573f3b31bf4164"/>
  </p:notesMasterIdLst>
  <p:sldIdLst>
    <p:sldId xmlns:r="http://schemas.openxmlformats.org/officeDocument/2006/relationships" id="256" r:id="Ra7f9186d68e7441e"/>
    <p:sldId xmlns:r="http://schemas.openxmlformats.org/officeDocument/2006/relationships" id="257" r:id="R7dbb3e08f44b410c"/>
    <p:sldId xmlns:r="http://schemas.openxmlformats.org/officeDocument/2006/relationships" id="258" r:id="R018b19b650564abe"/>
    <p:sldId xmlns:r="http://schemas.openxmlformats.org/officeDocument/2006/relationships" id="259" r:id="Rf2075cba9d994a80"/>
    <p:sldId xmlns:r="http://schemas.openxmlformats.org/officeDocument/2006/relationships" id="260" r:id="R2b53848087f64844"/>
    <p:sldId xmlns:r="http://schemas.openxmlformats.org/officeDocument/2006/relationships" id="261" r:id="Re528a2745c004e2e"/>
    <p:sldId xmlns:r="http://schemas.openxmlformats.org/officeDocument/2006/relationships" id="262" r:id="R8f6b76764b044c16"/>
    <p:sldId xmlns:r="http://schemas.openxmlformats.org/officeDocument/2006/relationships" id="263" r:id="R014c6f85feac402a"/>
    <p:sldId xmlns:r="http://schemas.openxmlformats.org/officeDocument/2006/relationships" id="264" r:id="Re17e44d240154f1b"/>
    <p:sldId xmlns:r="http://schemas.openxmlformats.org/officeDocument/2006/relationships" id="265" r:id="Rc40b45d0b76c4104"/>
    <p:sldId xmlns:r="http://schemas.openxmlformats.org/officeDocument/2006/relationships" id="266" r:id="R00fc17ae857d4466"/>
    <p:sldId xmlns:r="http://schemas.openxmlformats.org/officeDocument/2006/relationships" id="267" r:id="R100d8e4260ef402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128e2c46014084" /><Relationship Type="http://schemas.openxmlformats.org/officeDocument/2006/relationships/slideMaster" Target="/ppt/slideMasters/slideMaster1.xml" Id="Rf76d984bcc4e46bf" /><Relationship Type="http://schemas.openxmlformats.org/officeDocument/2006/relationships/notesMaster" Target="/ppt/notesMasters/notesMaster1.xml" Id="R74573f3b31bf4164" /><Relationship Type="http://schemas.openxmlformats.org/officeDocument/2006/relationships/presProps" Target="/ppt/presProps.xml" Id="R3605864c3c524a47" /><Relationship Type="http://schemas.openxmlformats.org/officeDocument/2006/relationships/tableStyles" Target="/ppt/tableStyles.xml" Id="R609441cc7ebd4ea7" /><Relationship Type="http://schemas.openxmlformats.org/officeDocument/2006/relationships/slide" Target="/ppt/slides/slide1.xml" Id="Ra7f9186d68e7441e" /><Relationship Type="http://schemas.openxmlformats.org/officeDocument/2006/relationships/slide" Target="/ppt/slides/slide2.xml" Id="R7dbb3e08f44b410c" /><Relationship Type="http://schemas.openxmlformats.org/officeDocument/2006/relationships/slide" Target="/ppt/slides/slide3.xml" Id="R018b19b650564abe" /><Relationship Type="http://schemas.openxmlformats.org/officeDocument/2006/relationships/slide" Target="/ppt/slides/slide4.xml" Id="Rf2075cba9d994a80" /><Relationship Type="http://schemas.openxmlformats.org/officeDocument/2006/relationships/slide" Target="/ppt/slides/slide5.xml" Id="R2b53848087f64844" /><Relationship Type="http://schemas.openxmlformats.org/officeDocument/2006/relationships/slide" Target="/ppt/slides/slide6.xml" Id="Re528a2745c004e2e" /><Relationship Type="http://schemas.openxmlformats.org/officeDocument/2006/relationships/slide" Target="/ppt/slides/slide7.xml" Id="R8f6b76764b044c16" /><Relationship Type="http://schemas.openxmlformats.org/officeDocument/2006/relationships/slide" Target="/ppt/slides/slide8.xml" Id="R014c6f85feac402a" /><Relationship Type="http://schemas.openxmlformats.org/officeDocument/2006/relationships/slide" Target="/ppt/slides/slide9.xml" Id="Re17e44d240154f1b" /><Relationship Type="http://schemas.openxmlformats.org/officeDocument/2006/relationships/slide" Target="/ppt/slides/slide10.xml" Id="Rc40b45d0b76c4104" /><Relationship Type="http://schemas.openxmlformats.org/officeDocument/2006/relationships/slide" Target="/ppt/slides/slide11.xml" Id="R00fc17ae857d4466" /><Relationship Type="http://schemas.openxmlformats.org/officeDocument/2006/relationships/slide" Target="/ppt/slides/slide12.xml" Id="R100d8e4260ef40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587f34dc1a43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39d0be18874597" /><Relationship Type="http://schemas.openxmlformats.org/officeDocument/2006/relationships/notesMaster" Target="/ppt/notesMasters/notesMaster1.xml" Id="R368ae08d5c8446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acc7a1d7044d79" /><Relationship Type="http://schemas.openxmlformats.org/officeDocument/2006/relationships/notesMaster" Target="/ppt/notesMasters/notesMaster1.xml" Id="Rddac28d0846849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50cfa5ae1c4c7a" /><Relationship Type="http://schemas.openxmlformats.org/officeDocument/2006/relationships/notesMaster" Target="/ppt/notesMasters/notesMaster1.xml" Id="Rbcfb717f92f04a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dac5fac52d40a8" /><Relationship Type="http://schemas.openxmlformats.org/officeDocument/2006/relationships/notesMaster" Target="/ppt/notesMasters/notesMaster1.xml" Id="R197ee1905d9f44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b86c4b6b8c4e2c" /><Relationship Type="http://schemas.openxmlformats.org/officeDocument/2006/relationships/notesMaster" Target="/ppt/notesMasters/notesMaster1.xml" Id="Rbe0333118e3345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12554cb943491e" /><Relationship Type="http://schemas.openxmlformats.org/officeDocument/2006/relationships/notesMaster" Target="/ppt/notesMasters/notesMaster1.xml" Id="Rfc21b8d0608043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ac113a8d8e4d1d" /><Relationship Type="http://schemas.openxmlformats.org/officeDocument/2006/relationships/notesMaster" Target="/ppt/notesMasters/notesMaster1.xml" Id="R3460d713c3d146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f669ae6a7e4793" /><Relationship Type="http://schemas.openxmlformats.org/officeDocument/2006/relationships/notesMaster" Target="/ppt/notesMasters/notesMaster1.xml" Id="R9ac733f13fab4f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ce06c962f44507" /><Relationship Type="http://schemas.openxmlformats.org/officeDocument/2006/relationships/notesMaster" Target="/ppt/notesMasters/notesMaster1.xml" Id="R9095e61178b847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959a86b7374899" /><Relationship Type="http://schemas.openxmlformats.org/officeDocument/2006/relationships/notesMaster" Target="/ppt/notesMasters/notesMaster1.xml" Id="R2b2172db57fa4e2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d26448b3e04131" /><Relationship Type="http://schemas.openxmlformats.org/officeDocument/2006/relationships/notesMaster" Target="/ppt/notesMasters/notesMaster1.xml" Id="R79d8ee4a694743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a8a640603d4977" /><Relationship Type="http://schemas.openxmlformats.org/officeDocument/2006/relationships/notesMaster" Target="/ppt/notesMasters/notesMaster1.xml" Id="R1a858928c84148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four ideas that explain how a browser reaches and displays a website.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frontend as the visible part, backend as the service and data layer, and full stack as work across both.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Emphasize that the Internet is physical infrastructure and protocols, not simply websites.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numbered request path from URL to the rendered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rendering as the browser interpreting HTML, CSS, JavaScript, images, and other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table to remove a common misconception. A browser opens websites. A search engine helps find websites and information.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a browser commonly acts as the client when a student opens a website.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each server type as a focused role that can appear in a modern web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Follow the arrows from user through browser, Internet, server, application logic, and back as a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familiar shopping site to relate each technical concept to a visible user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on this slide and invite students to answer the questions before closing.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audience and invite questions about the Internet, browser, client, or server.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5c44403dc4e9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77066effcf48c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dc1f51efe479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8101f633a54c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1327311be248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c0a3f141548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983D6F-AAAC-4453-ABF3-6219C1172C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CE489E-A054-4989-8F3B-0B1AB48425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BF9149-3EE9-41A1-A5CA-45202E80CA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08D3FF-CE4B-4B5D-AB82-AAE695A243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B2DA26-55A8-4094-99B1-B59CC249B2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20C1C0E-F1EC-4EBC-9659-0DFE5BA4D1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B5995E-FA3C-4784-8E58-EE3406FFDE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B9EF632-6E31-4082-8C8E-35DA5331F2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F53318-9C06-4580-A537-6B64D6E918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90BF633-AC60-4E84-BFF9-F7D9023769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4a9f49fbef4559" /><Relationship Type="http://schemas.openxmlformats.org/officeDocument/2006/relationships/slideLayout" Target="/ppt/slideLayouts/slideLayout1.xml" Id="R181a3c84c4354a60" /><Relationship Type="http://schemas.openxmlformats.org/officeDocument/2006/relationships/slideLayout" Target="/ppt/slideLayouts/slideLayout2.xml" Id="Rce49504979fd4deb" /><Relationship Type="http://schemas.openxmlformats.org/officeDocument/2006/relationships/slideLayout" Target="/ppt/slideLayouts/slideLayout3.xml" Id="R7b80116ab8d44a19" /><Relationship Type="http://schemas.openxmlformats.org/officeDocument/2006/relationships/slideLayout" Target="/ppt/slideLayouts/slideLayout4.xml" Id="R325934ceffff4ebb" /><Relationship Type="http://schemas.openxmlformats.org/officeDocument/2006/relationships/slideLayout" Target="/ppt/slideLayouts/slideLayout5.xml" Id="Rf7139dfd61fa4009" /><Relationship Type="http://schemas.openxmlformats.org/officeDocument/2006/relationships/slideLayout" Target="/ppt/slideLayouts/slideLayout6.xml" Id="R941a5d97d70547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1a3c84c4354a60"/>
    <p:sldLayoutId xmlns:r="http://schemas.openxmlformats.org/officeDocument/2006/relationships" id="2147483650" r:id="Rce49504979fd4deb"/>
    <p:sldLayoutId xmlns:r="http://schemas.openxmlformats.org/officeDocument/2006/relationships" id="2147483651" r:id="R7b80116ab8d44a19"/>
    <p:sldLayoutId xmlns:r="http://schemas.openxmlformats.org/officeDocument/2006/relationships" id="2147483652" r:id="R325934ceffff4ebb"/>
    <p:sldLayoutId xmlns:r="http://schemas.openxmlformats.org/officeDocument/2006/relationships" id="2147483653" r:id="Rf7139dfd61fa4009"/>
    <p:sldLayoutId xmlns:r="http://schemas.openxmlformats.org/officeDocument/2006/relationships" id="2147483654" r:id="R941a5d97d70547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ceb93cbc994669" /><Relationship Type="http://schemas.openxmlformats.org/officeDocument/2006/relationships/image" Target="/ppt/media/image.png" Id="R50f9c97a56de496b" /><Relationship Type="http://schemas.openxmlformats.org/officeDocument/2006/relationships/notesSlide" Target="/ppt/notesSlides/notesSlide1.xml" Id="R89b5e6e9645940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1acc4be76f4a20" /><Relationship Type="http://schemas.openxmlformats.org/officeDocument/2006/relationships/notesSlide" Target="/ppt/notesSlides/notesSlide2.xml" Id="R48cdcb81e95b4a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50d1bae4ba445c" /><Relationship Type="http://schemas.openxmlformats.org/officeDocument/2006/relationships/notesSlide" Target="/ppt/notesSlides/notesSlide3.xml" Id="R0110c58a205042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fb0fb2701d4260" /><Relationship Type="http://schemas.openxmlformats.org/officeDocument/2006/relationships/notesSlide" Target="/ppt/notesSlides/notesSlide4.xml" Id="R2bceebf15ece4f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fe1f4090ba4fc9" /><Relationship Type="http://schemas.openxmlformats.org/officeDocument/2006/relationships/notesSlide" Target="/ppt/notesSlides/notesSlide5.xml" Id="Rad368977c17a4fa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11f990c3ee4c1a" /><Relationship Type="http://schemas.openxmlformats.org/officeDocument/2006/relationships/notesSlide" Target="/ppt/notesSlides/notesSlide6.xml" Id="R52bd85bee29e43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2078a7cd8c4512" /><Relationship Type="http://schemas.openxmlformats.org/officeDocument/2006/relationships/notesSlide" Target="/ppt/notesSlides/notesSlide7.xml" Id="Rd1b7f2c7c02f47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d1c941a863414d" /><Relationship Type="http://schemas.openxmlformats.org/officeDocument/2006/relationships/notesSlide" Target="/ppt/notesSlides/notesSlide8.xml" Id="R24510a44723b4e7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a2bd80f1c8482e" /><Relationship Type="http://schemas.openxmlformats.org/officeDocument/2006/relationships/notesSlide" Target="/ppt/notesSlides/notesSlide9.xml" Id="R41ca7008588a43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7f26c9cc344640" /><Relationship Type="http://schemas.openxmlformats.org/officeDocument/2006/relationships/notesSlide" Target="/ppt/notesSlides/notesSlide10.xml" Id="R35ab0ae520a449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a7b205c4ed48bd" /><Relationship Type="http://schemas.openxmlformats.org/officeDocument/2006/relationships/notesSlide" Target="/ppt/notesSlides/notesSlide11.xml" Id="R5545680a5a9943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406ffa95ed443e" /><Relationship Type="http://schemas.openxmlformats.org/officeDocument/2006/relationships/image" Target="/ppt/media/image2.png" Id="R614e33b2790a40a1" /><Relationship Type="http://schemas.openxmlformats.org/officeDocument/2006/relationships/notesSlide" Target="/ppt/notesSlides/notesSlide12.xml" Id="R950d3446b76541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C3D85-5A9F-48EE-AD9A-F3DBF36AF8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9c97a56de496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31B82-87E0-4FB1-A487-9C6842C2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F">
              <a:alpha val="7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8F3E74-8216-4E5D-B0B9-51BF7322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F">
              <a:alpha val="9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0DBA7-EA05-4261-AB1C-CDFA7EDA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9700"/>
            <a:ext cx="24574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44E"/>
          </a:solidFill>
          <a:ln xmlns:a="http://schemas.openxmlformats.org/drawingml/2006/main" w="9525">
            <a:solidFill>
              <a:srgbClr val="44D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675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44D7FF"/>
                </a:solidFill>
              </a:defRPr>
            </a:pPr>
            <a:r>
              <a:rPr sz="675" b="1">
                <a:solidFill>
                  <a:srgbClr val="44D7FF"/>
                </a:solidFill>
              </a:rPr>
              <a:t>BTECH CSE CLASSROOM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7ACE5A-3E93-4BB2-B273-50799FD8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905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2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F7FAFF"/>
                </a:solidFill>
              </a:defRPr>
            </a:pPr>
            <a:r>
              <a:rPr sz="4200" b="1">
                <a:solidFill>
                  <a:srgbClr val="F7FAFF"/>
                </a:solidFill>
              </a:rPr>
              <a:t>Introduction to</a:t>
            </a:r>
          </a:p>
          <a:p xmlns:a="http://schemas.openxmlformats.org/drawingml/2006/main">
            <a:pPr algn="l">
              <a:defRPr sz="4200" b="1">
                <a:solidFill>
                  <a:srgbClr val="F7FAFF"/>
                </a:solidFill>
              </a:defRPr>
            </a:pPr>
            <a:r>
              <a:rPr sz="4200" b="1">
                <a:solidFill>
                  <a:srgbClr val="F7FAFF"/>
                </a:solidFill>
              </a:rPr>
              <a:t>Web Development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C3BCF2-314C-4FA6-8366-65FBC555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D6E6FF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D6E6FF"/>
                </a:solidFill>
              </a:defRPr>
            </a:pPr>
            <a:r>
              <a:rPr sz="1725" b="0">
                <a:solidFill>
                  <a:srgbClr val="D6E6FF"/>
                </a:solidFill>
              </a:rPr>
              <a:t>Understanding the Internet, Browser, Client, and 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853C1-6394-4648-86A9-F57C8E3E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47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DC9F9-D060-44BF-8150-642AD3A6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00" b="1">
                <a:solidFill>
                  <a:srgbClr val="C8D8F3"/>
                </a:solidFill>
              </a:defRPr>
            </a:defPPr>
          </a:lstStyle>
          <a:p xmlns:a="http://schemas.openxmlformats.org/drawingml/2006/main">
            <a:pPr algn="l">
              <a:defRPr sz="900" b="1">
                <a:solidFill>
                  <a:srgbClr val="C8D8F3"/>
                </a:solidFill>
              </a:defRPr>
            </a:pPr>
            <a:r>
              <a:rPr sz="900" b="1">
                <a:solidFill>
                  <a:srgbClr val="C8D8F3"/>
                </a:solidFill>
              </a:rPr>
              <a:t>HTML · CSS · JavaScript · Client–Server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6C922-7165-4250-A432-7A450AFA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972175"/>
            <a:ext cx="204787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44E"/>
          </a:solidFill>
          <a:ln xmlns:a="http://schemas.openxmlformats.org/drawingml/2006/main" w="9525">
            <a:solidFill>
              <a:srgbClr val="44D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675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44D7FF"/>
                </a:solidFill>
              </a:defRPr>
            </a:pPr>
            <a:r>
              <a:rPr sz="675" b="1">
                <a:solidFill>
                  <a:srgbClr val="44D7FF"/>
                </a:solidFill>
              </a:rPr>
              <a:t>12-SLIDE LEARNING GUIDE</a:t>
            </a:r>
          </a:p>
        </p:txBody>
      </p:sp>
    </p:spTree>
    <p:extLst>
      <p:ext uri="{BB962C8B-B14F-4D97-AF65-F5344CB8AC3E}">
        <p14:creationId xmlns:p14="http://schemas.microsoft.com/office/powerpoint/2010/main" val="10265665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4A400-7AA8-46F1-980C-954317F6E247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9239250" y="3257550"/>
            <a:ext cx="333375" cy="14859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A780FF"/>
            </a:solidFill>
            <a:prstDash val="solid"/>
            <a:head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92A8C8-D43D-4F6B-849D-8451FA914AD5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477125" y="3257550"/>
            <a:ext cx="333375" cy="1485900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9050">
            <a:solidFill>
              <a:srgbClr val="44D7FF"/>
            </a:solidFill>
            <a:prstDash val="solid"/>
            <a:headEnd type="triangle" w="sm" len="sm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DD3674-0C9C-414E-8E3E-9FCDF69C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01 · THE BIG PICTURE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AEDEB-42C6-4537-AC6F-93CC0985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7FAFF"/>
                </a:solidFill>
              </a:defRPr>
            </a:pPr>
            <a:r>
              <a:rPr sz="3000" b="1">
                <a:solidFill>
                  <a:srgbClr val="F7FAFF"/>
                </a:solidFill>
              </a:rPr>
              <a:t>What Is Web Development?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50C928-A4C8-43D5-B542-9BDB2CA4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90B66-AE7C-4200-B1C0-C6B452EE1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859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8C7E2"/>
                </a:solidFill>
              </a:defRPr>
            </a:pPr>
            <a:r>
              <a:rPr sz="1800" b="0">
                <a:solidFill>
                  <a:srgbClr val="B8C7E2"/>
                </a:solidFill>
              </a:rPr>
              <a:t>Web development is the process of creating, building, and maintaining websites and web applications.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935A6-642E-453E-920E-FEBEBE22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5000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3C70"/>
          </a:solidFill>
          <a:ln xmlns:a="http://schemas.openxmlformats.org/drawingml/2006/main" w="9525">
            <a:solidFill>
              <a:srgbClr val="2F83B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B4C8A4-2CAE-44C6-8296-9506C3F5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38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3F019-41E6-4164-AE48-87576DFC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46767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E7FB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E7FBFF"/>
                </a:solidFill>
              </a:defRPr>
            </a:pPr>
            <a:r>
              <a:rPr sz="1200" b="1">
                <a:solidFill>
                  <a:srgbClr val="E7FBFF"/>
                </a:solidFill>
              </a:rPr>
              <a:t>Web development combines design, programming, and data management to create functional websites.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CC8FF-A866-4C53-B793-7C600F42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288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5B4077-9CA1-4485-9C49-7ADFA6A2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981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44D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8DF91-6518-43BD-8048-A3EFA57B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Frontend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FD1E9-576F-409B-B69D-1AF79667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57475"/>
            <a:ext cx="123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What users see and interact with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47C7D-3665-4A37-BE87-60DC7C586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28800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4870AB-150A-451E-B4AD-2DD40AF49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981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A780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F9ABA-AD10-4BB7-B983-371C3476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19350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8DB066-2018-46ED-AC76-6B9C1CC5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57475"/>
            <a:ext cx="123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Server logic and data processing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21B1A-466E-419E-946E-391368E9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29075"/>
            <a:ext cx="14287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4DBB4-A1BA-4B6F-8226-0B8FECB3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1814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77F3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51355-7F7A-4299-B7AE-4521D0DFB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19625"/>
            <a:ext cx="1238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Full stack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DE459-D35C-4C3E-836A-D7050AB3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57750"/>
            <a:ext cx="123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Works across both areas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50CFE1-C928-44A2-AAD1-C0835E31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675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44D7FF"/>
                </a:solidFill>
              </a:defRPr>
            </a:pPr>
            <a:r>
              <a:rPr sz="675" b="1">
                <a:solidFill>
                  <a:srgbClr val="44D7FF"/>
                </a:solidFill>
              </a:rPr>
              <a:t>USER EXPERIENCE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ABB6AC-CF7C-4807-9E57-89DA4B95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1428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675" b="1">
                <a:solidFill>
                  <a:srgbClr val="A780FF"/>
                </a:solidFill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A780FF"/>
                </a:solidFill>
              </a:defRPr>
            </a:pPr>
            <a:r>
              <a:rPr sz="675" b="1">
                <a:solidFill>
                  <a:srgbClr val="A780FF"/>
                </a:solidFill>
              </a:rPr>
              <a:t>DATA + LOGIC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ADDB68-4A13-4C5D-94C3-88BEE63A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l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INTRODUCTION TO WEB DEVELOPMENT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F5617A-EFBB-4783-A830-CF63D6D13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715348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166FA6-7523-4190-A1A3-FDA99513BF0A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620250" y="4648200"/>
            <a:ext cx="428625" cy="3286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7F3D0"/>
            </a:solidFill>
            <a:prstDash val="solid"/>
            <a:headEnd type="triangle" w="sm" len="sm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6F9B1C-0C09-4725-B3D0-1019528A12C4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8867775" y="2771775"/>
            <a:ext cx="61913" cy="1276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44D7FF"/>
            </a:solidFill>
            <a:prstDash val="solid"/>
            <a:headEnd type="triangle" w="sm" len="sm"/>
          </a:ln>
        </p:spPr>
      </p:cxn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22BA5C-C684-4B43-8CB9-AB3C64242706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401175" y="2171700"/>
            <a:ext cx="409575" cy="714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780FF"/>
            </a:solidFill>
            <a:prstDash val="solid"/>
            <a:headEnd type="triangle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7B7870-BAC1-450E-928E-B283ABB080C7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7829550" y="2171700"/>
            <a:ext cx="504825" cy="476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4D7FF"/>
            </a:solidFill>
            <a:prstDash val="solid"/>
            <a:headEnd type="triangle" w="sm" len="sm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20268A-ADB2-4D1D-ADBD-1FC5AB77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02 ·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597049-BC94-4E62-AC8E-0E5EB11A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7FAFF"/>
                </a:solidFill>
              </a:defRPr>
            </a:pPr>
            <a:r>
              <a:rPr sz="3000" b="1">
                <a:solidFill>
                  <a:srgbClr val="F7FAFF"/>
                </a:solidFill>
              </a:rPr>
              <a:t>Internet: Definition and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00C45F-81FF-45EB-98EC-838928AE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5AA40-1F88-4FFB-86E1-1C0AE607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B8C7E2"/>
                </a:solidFill>
              </a:defRPr>
            </a:pPr>
            <a:r>
              <a:rPr sz="1575" b="0">
                <a:solidFill>
                  <a:srgbClr val="B8C7E2"/>
                </a:solidFill>
              </a:rPr>
              <a:t>A global network of interconnected networks that lets devices communicate and exchange information.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C5B9C-A27B-4929-AC28-A049A44D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336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29317-7AEF-4370-B118-A9AE17BF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051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7FAFF"/>
                </a:solidFill>
              </a:defRPr>
            </a:pPr>
            <a:r>
              <a:rPr sz="1200" b="1">
                <a:solidFill>
                  <a:srgbClr val="F7FAFF"/>
                </a:solidFill>
              </a:rPr>
              <a:t>Network of networks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53916A-8044-4E75-869B-AA7B0FFC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9432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8C7E2"/>
                </a:solidFill>
              </a:defRPr>
            </a:pPr>
            <a:r>
              <a:rPr sz="975" b="0">
                <a:solidFill>
                  <a:srgbClr val="B8C7E2"/>
                </a:solidFill>
              </a:rPr>
              <a:t>Links local, private, academic, business, and government networks.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DADF8-94B9-418D-925C-19336904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575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1D64D-7B71-4AD7-B629-4A641EF4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4290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7FAFF"/>
                </a:solidFill>
              </a:defRPr>
            </a:pPr>
            <a:r>
              <a:rPr sz="1200" b="1">
                <a:solidFill>
                  <a:srgbClr val="F7FAFF"/>
                </a:solidFill>
              </a:rPr>
              <a:t>Physical backbone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AD957D-BCAF-4128-8871-3CA7674C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6671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8C7E2"/>
                </a:solidFill>
              </a:defRPr>
            </a:pPr>
            <a:r>
              <a:rPr sz="975" b="0">
                <a:solidFill>
                  <a:srgbClr val="B8C7E2"/>
                </a:solidFill>
              </a:rPr>
              <a:t>Uses cables, fiber-optic links, data centers, wireless, and satellites.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B99666-DAAF-4758-9C50-D4568D5D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14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2B92EA-B761-420C-862E-B9E3089B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1529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7FAFF"/>
                </a:solidFill>
              </a:defRPr>
            </a:pPr>
            <a:r>
              <a:rPr sz="1200" b="1">
                <a:solidFill>
                  <a:srgbClr val="F7FAFF"/>
                </a:solidFill>
              </a:rPr>
              <a:t>Communication protocols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28C16-596F-4E64-AD7F-83F853E4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3910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8C7E2"/>
                </a:solidFill>
              </a:defRPr>
            </a:pPr>
            <a:r>
              <a:rPr sz="975" b="0">
                <a:solidFill>
                  <a:srgbClr val="B8C7E2"/>
                </a:solidFill>
              </a:rPr>
              <a:t>TCP/IP defines common rules for transferring data in packets.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AD3E91-4A04-4BC9-8F13-1D33E165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05375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17BE8-44F8-476E-BD93-0C4F2474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876800"/>
            <a:ext cx="4191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7FAFF"/>
                </a:solidFill>
              </a:defRPr>
            </a:pPr>
            <a:r>
              <a:rPr sz="1200" b="1">
                <a:solidFill>
                  <a:srgbClr val="F7FAFF"/>
                </a:solidFill>
              </a:rPr>
              <a:t>Decentralized infrastructure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3C903-94E2-42AF-AA79-230A99C7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1149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8C7E2"/>
                </a:solidFill>
              </a:defRPr>
            </a:pPr>
            <a:r>
              <a:rPr sz="975" b="0">
                <a:solidFill>
                  <a:srgbClr val="B8C7E2"/>
                </a:solidFill>
              </a:rPr>
              <a:t>Many network operators and providers maintain connected parts.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132D57-EC39-4A72-B796-6AE67399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47875"/>
            <a:ext cx="1066800" cy="12001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5521FB-E955-43E4-9602-8F519C61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200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44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09717-D183-40A3-AC5F-8A5E92B8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38425"/>
            <a:ext cx="876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Devices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3A276-F925-41A6-B487-1C451D38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87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Computers and phones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6A5A6D-4E7D-4EAA-8FB8-90048173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1066800" cy="12001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C60350-3F7E-468B-AC09-174F6D79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7240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A780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8472D2-2117-421A-806A-B761A6D5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62175"/>
            <a:ext cx="876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Router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8E7622-2100-4659-B7F8-99B32B55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00300"/>
            <a:ext cx="87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Local network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649B12-391E-44A4-87AE-15B8F6C5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1066800" cy="120015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5E9F47-A909-49B2-B183-F2CF44DB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384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44D7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559380-49BF-4631-BE72-AC096492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76550"/>
            <a:ext cx="876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ISP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A09D78-112A-47C1-AA19-E7ACCD55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14675"/>
            <a:ext cx="876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Internet access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6D0BC2-005C-4BD0-85D7-5DD6B96D0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48125"/>
            <a:ext cx="1381125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E81E54-F446-4B89-ABE9-1CB18E458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8238" y="42005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77F3D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F581AB-8A93-45D3-B53F-52FBD25C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38675"/>
            <a:ext cx="1190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Servers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0F483C-47B4-4C82-BF78-C31DAC58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76800"/>
            <a:ext cx="11906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Apps and 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CD96D4-65FB-45D7-AE0D-F442CA10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476750"/>
            <a:ext cx="10668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1D6AC7-88B3-4B0F-818E-7E1BA970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F4C96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8BCB72-1132-42A9-A682-70CC4FED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067300"/>
            <a:ext cx="876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Fiber links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51120B-E4FE-4D7B-8389-BEB40C9B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5305425"/>
            <a:ext cx="8763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Physical backbone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E3B5AC-84F7-4A62-B921-688648C4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753100"/>
            <a:ext cx="514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C70"/>
          </a:solidFill>
          <a:ln xmlns:a="http://schemas.openxmlformats.org/drawingml/2006/main" w="9525">
            <a:solidFill>
              <a:srgbClr val="2F83B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352789-CE4B-4078-8E39-A2D8F690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753100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D4EA66-0933-4FA9-9739-D46BF76A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867400"/>
            <a:ext cx="4819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E7FB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E7FBFF"/>
                </a:solidFill>
              </a:defRPr>
            </a:pPr>
            <a:r>
              <a:rPr sz="1200" b="1">
                <a:solidFill>
                  <a:srgbClr val="E7FBFF"/>
                </a:solidFill>
              </a:rPr>
              <a:t>The Internet is a physical network infrastructure that connects billions of devices worldwide.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A86842-F763-4DD9-B68A-10538238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l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INTRODUCTION TO WEB DEVELOPMENT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360DF2-6AB0-4943-864E-DA44CA68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221765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20A39C-748E-44E9-B557-CC9653747F83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8972550" y="3619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F3D0"/>
            </a:solidFill>
            <a:prstDash val="solid"/>
            <a:head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7577A7-BA72-40CB-BCD1-821119AA76A3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781800" y="3619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4D7FF"/>
            </a:solidFill>
            <a:prstDash val="solid"/>
            <a:head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72CEDC-E0DC-4625-B6D3-22838DF2AEED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591050" y="3619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80FF"/>
            </a:solidFill>
            <a:prstDash val="solid"/>
            <a:head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197370-7104-4ACE-9023-E3EF473965B4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400300" y="36195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4D7FF"/>
            </a:solidFill>
            <a:prstDash val="solid"/>
            <a:head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94D5B1-392C-49C4-B2C4-ACB61427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03 · REQUEST AND RESPONSE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97CE6-1F8C-4B79-92E8-628B51BF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7FAFF"/>
                </a:solidFill>
              </a:defRPr>
            </a:pPr>
            <a:r>
              <a:rPr sz="3000" b="1">
                <a:solidFill>
                  <a:srgbClr val="F7FAFF"/>
                </a:solidFill>
              </a:rPr>
              <a:t>How the Internet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0010A-A8EF-43C9-A1DA-8502B4C0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CC0F7-5E6D-4B42-A92E-D8D0856E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609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8C7E2"/>
                </a:solidFill>
              </a:defRPr>
            </a:pPr>
            <a:r>
              <a:rPr sz="1500" b="0">
                <a:solidFill>
                  <a:srgbClr val="B8C7E2"/>
                </a:solidFill>
              </a:rPr>
              <a:t>Opening a website follows a clear request-and-response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F4F4B-41FF-4EE2-AAA1-8E9924E0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714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778347-973E-4723-BF11-C9CB29CD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718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825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44D7FF"/>
                </a:solidFill>
              </a:defRPr>
            </a:pPr>
            <a:r>
              <a:rPr sz="825" b="1">
                <a:solidFill>
                  <a:srgbClr val="44D7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33679-F0D9-4F08-8D66-81F16182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38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73"/>
          </a:solidFill>
          <a:ln xmlns:a="http://schemas.openxmlformats.org/drawingml/2006/main" w="19050">
            <a:solidFill>
              <a:srgbClr val="44D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4352FC-D6CE-4BFE-810A-CBACF881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909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05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7FAFF"/>
                </a:solidFill>
              </a:defRPr>
            </a:pPr>
            <a:r>
              <a:rPr sz="1050" b="1">
                <a:solidFill>
                  <a:srgbClr val="F7FAFF"/>
                </a:solidFill>
              </a:rPr>
              <a:t>Enter a web address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BC068-1117-489B-9118-101CD7B1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8147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www.example.com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0D4AC5-2749-4CDB-8206-7077E4A7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09875"/>
            <a:ext cx="1714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0C2D6-8F88-4D2D-9450-8843DBB6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9718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825" b="1">
                <a:solidFill>
                  <a:srgbClr val="A780FF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A780FF"/>
                </a:solidFill>
              </a:defRPr>
            </a:pPr>
            <a:r>
              <a:rPr sz="825" b="1">
                <a:solidFill>
                  <a:srgbClr val="A780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A4811-6D26-4655-ADE3-8A865146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38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73"/>
          </a:solidFill>
          <a:ln xmlns:a="http://schemas.openxmlformats.org/drawingml/2006/main" w="19050">
            <a:solidFill>
              <a:srgbClr val="A78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C4B9E1-2C76-4383-B209-0E1E4844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909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05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7FAFF"/>
                </a:solidFill>
              </a:defRPr>
            </a:pPr>
            <a:r>
              <a:rPr sz="1050" b="1">
                <a:solidFill>
                  <a:srgbClr val="F7FAFF"/>
                </a:solidFill>
              </a:rPr>
              <a:t>DNS lookup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5DEBA4-FE0F-4D03-B1A1-105B1D96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8147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Finds the IP address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2E7570-90B2-4350-AFF6-8DDCE76C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9875"/>
            <a:ext cx="1714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5982AC-7833-450E-8C09-D51BA381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9718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825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44D7FF"/>
                </a:solidFill>
              </a:defRPr>
            </a:pPr>
            <a:r>
              <a:rPr sz="825" b="1">
                <a:solidFill>
                  <a:srgbClr val="44D7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4488B2-A95B-4138-A72F-442B06EC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38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73"/>
          </a:solidFill>
          <a:ln xmlns:a="http://schemas.openxmlformats.org/drawingml/2006/main" w="19050">
            <a:solidFill>
              <a:srgbClr val="44D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A5241-48AC-4E39-82BD-5639B746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909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05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7FAFF"/>
                </a:solidFill>
              </a:defRPr>
            </a:pPr>
            <a:r>
              <a:rPr sz="1050" b="1">
                <a:solidFill>
                  <a:srgbClr val="F7FAFF"/>
                </a:solidFill>
              </a:rPr>
              <a:t>HTTP/HTTPS 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5721C-B199-4527-A204-B7B374E2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8147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Travels across the network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7969ED-7A71-4680-A31E-2F4AA9DC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9875"/>
            <a:ext cx="1714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E5EB84-425D-4F46-9450-19029C1E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9718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825" b="1">
                <a:solidFill>
                  <a:srgbClr val="77F3D0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77F3D0"/>
                </a:solidFill>
              </a:defRPr>
            </a:pPr>
            <a:r>
              <a:rPr sz="825" b="1">
                <a:solidFill>
                  <a:srgbClr val="77F3D0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60E85F-1E18-479E-8704-A26E73E7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238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73"/>
          </a:solidFill>
          <a:ln xmlns:a="http://schemas.openxmlformats.org/drawingml/2006/main" w="19050">
            <a:solidFill>
              <a:srgbClr val="77F3D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13F448-E61B-4A3D-863F-CD7F0307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909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05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7FAFF"/>
                </a:solidFill>
              </a:defRPr>
            </a:pPr>
            <a:r>
              <a:rPr sz="1050" b="1">
                <a:solidFill>
                  <a:srgbClr val="F7FAFF"/>
                </a:solidFill>
              </a:rPr>
              <a:t>Server response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B544AD-DB49-46FA-8764-67892E24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8147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Returns web resources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3645D5-3CB1-44B1-AEC5-99D22BF3D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09875"/>
            <a:ext cx="1714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4D5317-5402-41AA-B165-90B88422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9718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825" b="1">
                <a:solidFill>
                  <a:srgbClr val="F4C96D"/>
                </a:solidFill>
              </a:defRPr>
            </a:defPPr>
          </a:lstStyle>
          <a:p xmlns:a="http://schemas.openxmlformats.org/drawingml/2006/main">
            <a:pPr algn="l">
              <a:defRPr sz="825" b="1">
                <a:solidFill>
                  <a:srgbClr val="F4C96D"/>
                </a:solidFill>
              </a:defRPr>
            </a:pPr>
            <a:r>
              <a:rPr sz="825" b="1">
                <a:solidFill>
                  <a:srgbClr val="F4C96D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C46037-E487-4308-981B-62BC3433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385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C73"/>
          </a:solidFill>
          <a:ln xmlns:a="http://schemas.openxmlformats.org/drawingml/2006/main" w="19050">
            <a:solidFill>
              <a:srgbClr val="F4C96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50DFA8-BA82-4959-9A8C-5FD4B5CE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7909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05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050" b="1">
                <a:solidFill>
                  <a:srgbClr val="F7FAFF"/>
                </a:solidFill>
              </a:defRPr>
            </a:pPr>
            <a:r>
              <a:rPr sz="1050" b="1">
                <a:solidFill>
                  <a:srgbClr val="F7FAFF"/>
                </a:solidFill>
              </a:rPr>
              <a:t>Browser renders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7125D4-0966-433F-845C-A9F87123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81475"/>
            <a:ext cx="1447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Displays the webpage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D247DE-1BFE-43EF-B5B6-3953D321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6375"/>
            <a:ext cx="1019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3C70"/>
          </a:solidFill>
          <a:ln xmlns:a="http://schemas.openxmlformats.org/drawingml/2006/main" w="9525">
            <a:solidFill>
              <a:srgbClr val="2F83B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D439BB-EE8E-4448-A913-174A0EEC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28637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E6D7A2-16F7-43BC-9EE2-985AF2FB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400675"/>
            <a:ext cx="9867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E7FB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E7FBFF"/>
                </a:solidFill>
              </a:defRPr>
            </a:pPr>
            <a:r>
              <a:rPr sz="1200" b="1">
                <a:solidFill>
                  <a:srgbClr val="E7FBFF"/>
                </a:solidFill>
              </a:rPr>
              <a:t>DNS finds the IP address, HTTP/HTTPS transfers web resources, and the browser displays the webpage.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0064C4-B5F5-40D2-B042-44FC68FF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l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INTRODUCTION TO WEB DEVELOPMENT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6B2CEF-0C13-4DA9-8AAB-DC7D1913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15057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02C549-120D-4699-B7F1-3D4CB523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04 · THE USER INTERFACE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19B84-716E-478F-80C5-C89BBEF8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7FAFF"/>
                </a:solidFill>
              </a:defRPr>
            </a:pPr>
            <a:r>
              <a:rPr sz="3000" b="1">
                <a:solidFill>
                  <a:srgbClr val="F7FAFF"/>
                </a:solidFill>
              </a:rPr>
              <a:t>Browser: Definition and Examples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6FD2B7-BE48-47E1-8C6A-DD944447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06EC2-8DE2-4436-8F68-8467ADD55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4667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8C7E2"/>
                </a:solidFill>
              </a:defRPr>
            </a:pPr>
            <a:r>
              <a:rPr sz="1650" b="0">
                <a:solidFill>
                  <a:srgbClr val="B8C7E2"/>
                </a:solidFill>
              </a:rPr>
              <a:t>A web browser is software that lets users access, view, and interact with websites on the World Wide Web.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982E36-20B9-44BA-A825-DE5CD1D1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44D7FF"/>
                </a:solidFill>
              </a:defRPr>
            </a:pPr>
            <a:r>
              <a:rPr sz="1050" b="1">
                <a:solidFill>
                  <a:srgbClr val="44D7FF"/>
                </a:solidFill>
              </a:rPr>
              <a:t>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217357-4983-469D-9FD2-1857D145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0670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8C7E2"/>
                </a:solidFill>
              </a:defRPr>
            </a:pPr>
            <a:r>
              <a:rPr sz="975" b="0">
                <a:solidFill>
                  <a:srgbClr val="B8C7E2"/>
                </a:solidFill>
              </a:rPr>
              <a:t>Enter a URL or click a link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7CDD3-5D99-44CA-A9C8-DBE8833E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43275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599D8-4983-4FDC-89E7-8D20A9A3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A780FF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A780FF"/>
                </a:solidFill>
              </a:defRPr>
            </a:pPr>
            <a:r>
              <a:rPr sz="1050" b="1">
                <a:solidFill>
                  <a:srgbClr val="A780FF"/>
                </a:solidFill>
              </a:rPr>
              <a:t>Lookup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B0DDA-A335-4192-BA6F-3BB3948D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6004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8C7E2"/>
                </a:solidFill>
              </a:defRPr>
            </a:pPr>
            <a:r>
              <a:rPr sz="975" b="0">
                <a:solidFill>
                  <a:srgbClr val="B8C7E2"/>
                </a:solidFill>
              </a:rPr>
              <a:t>DNS locates the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0490BD-4D14-48A0-8B53-FD88F9B7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E58C5F-DB78-45A9-962C-671D090C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44D7FF"/>
                </a:solidFill>
              </a:defRPr>
            </a:pPr>
            <a:r>
              <a:rPr sz="1050" b="1">
                <a:solidFill>
                  <a:srgbClr val="44D7FF"/>
                </a:solidFill>
              </a:rPr>
              <a:t>Retrieval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30031C-731E-495F-B13A-D48325D2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1338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8C7E2"/>
                </a:solidFill>
              </a:defRPr>
            </a:pPr>
            <a:r>
              <a:rPr sz="975" b="0">
                <a:solidFill>
                  <a:srgbClr val="B8C7E2"/>
                </a:solidFill>
              </a:rPr>
              <a:t>HTTP/HTTPS gets resources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679933-7E1E-4463-B068-C624519A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0075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C98227-1C51-4597-805C-A38FA2D7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672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1">
                <a:solidFill>
                  <a:srgbClr val="A780FF"/>
                </a:solidFill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A780FF"/>
                </a:solidFill>
              </a:defRPr>
            </a:pPr>
            <a:r>
              <a:rPr sz="1050" b="1">
                <a:solidFill>
                  <a:srgbClr val="A780FF"/>
                </a:solidFill>
              </a:rPr>
              <a:t>Rendering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45F48-E248-4B86-9853-C065B246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67250"/>
            <a:ext cx="342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8C7E2"/>
                </a:solidFill>
              </a:defRPr>
            </a:pPr>
            <a:r>
              <a:rPr sz="975" b="0">
                <a:solidFill>
                  <a:srgbClr val="B8C7E2"/>
                </a:solidFill>
              </a:rPr>
              <a:t>HTML, CSS, and JavaScript become a page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589EF-FDE3-45E1-BFA7-900E3CDC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43475"/>
            <a:ext cx="4591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E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0BCF3-B59F-4F6E-86F6-1F4986AB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5191125" cy="3810000"/>
          </a:xfrm>
          <a:prstGeom xmlns:a="http://schemas.openxmlformats.org/drawingml/2006/main" prst="roundRect">
            <a:avLst>
              <a:gd name="adj" fmla="val 3000"/>
            </a:avLst>
          </a:prstGeom>
          <a:solidFill xmlns:a="http://schemas.openxmlformats.org/drawingml/2006/main">
            <a:srgbClr val="0D2C5B"/>
          </a:solidFill>
          <a:ln xmlns:a="http://schemas.openxmlformats.org/drawingml/2006/main" w="9525">
            <a:solidFill>
              <a:srgbClr val="4986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4A0A58-0A37-4AC5-9776-543060E5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519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A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F1C384-EF86-45DC-A927-3AFBB94B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1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619EA-5CE5-4DDA-B524-7692D69F9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61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48AC2-40AA-4544-8B7E-90B2FE30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7F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C83FD8-247B-4FBC-B866-43A3343E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581150"/>
            <a:ext cx="3476625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53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9CC19F-FF2B-4E90-9762-220B7FA2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66925"/>
            <a:ext cx="4657725" cy="173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D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3A67B5-9982-4F8C-AC0C-4BD512A8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146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F7FAFF"/>
                </a:solidFill>
              </a:defRPr>
            </a:pPr>
            <a:r>
              <a:rPr sz="1875" b="1">
                <a:solidFill>
                  <a:srgbClr val="F7FAFF"/>
                </a:solidFill>
              </a:rPr>
              <a:t>Website content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F2094E-0F50-48AA-84DE-DAE85421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2417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D0E2FF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D0E2FF"/>
                </a:solidFill>
              </a:defRPr>
            </a:pPr>
            <a:r>
              <a:rPr sz="975" b="0">
                <a:solidFill>
                  <a:srgbClr val="D0E2FF"/>
                </a:solidFill>
              </a:rPr>
              <a:t>HTML · CSS · JavaScript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040184-E32D-4A9F-82B9-4AF01595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0050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4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BF365F-CFBC-429B-8848-4FFD04F7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4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5BBC40-243F-4466-9CCF-8CD533BE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0050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264F8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E8BE5D-7CE3-42DD-82C6-A0AFD062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67350"/>
            <a:ext cx="509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90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900" b="0">
                <a:solidFill>
                  <a:srgbClr val="B8C7E2"/>
                </a:solidFill>
              </a:defRPr>
            </a:pPr>
            <a:r>
              <a:rPr sz="900" b="0">
                <a:solidFill>
                  <a:srgbClr val="B8C7E2"/>
                </a:solidFill>
              </a:rPr>
              <a:t>Popular browsers: Chrome, Firefox, Edge, Safari, Opera, Brave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46C3A8-6D49-46F3-81D6-A5FF189FA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9525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C70"/>
          </a:solidFill>
          <a:ln xmlns:a="http://schemas.openxmlformats.org/drawingml/2006/main" w="9525">
            <a:solidFill>
              <a:srgbClr val="2F83B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93C1A7-EC95-4D1A-8630-6F94D969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86425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31E98B-91E0-4B04-829C-0BE3A4CCB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00725"/>
            <a:ext cx="9201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E7FB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E7FBFF"/>
                </a:solidFill>
              </a:defRPr>
            </a:pPr>
            <a:r>
              <a:rPr sz="1200" b="1">
                <a:solidFill>
                  <a:srgbClr val="E7FBFF"/>
                </a:solidFill>
              </a:rPr>
              <a:t>A web browser retrieves website resources and renders them into an interactive webpage.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3B26C7-2E13-4BD2-8BE3-7BE4B040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l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INTRODUCTION TO WEB DEVELOPMENT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FB50EF-D2F5-44A6-A135-F32735D6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473484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3CA53-2BD6-45E7-BCC2-6A5269BB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05 · CLEAR THE CONFUSION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581B9-403D-436C-94FE-7CCA3C3A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7FAFF"/>
                </a:solidFill>
              </a:defRPr>
            </a:pPr>
            <a:r>
              <a:rPr sz="3000" b="1">
                <a:solidFill>
                  <a:srgbClr val="F7FAFF"/>
                </a:solidFill>
              </a:rPr>
              <a:t>Browser vs Search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C6507-AE1D-42BD-BADD-9ECFCC96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E2ADF9-5423-446F-817D-9495157A8471}"/>
              </a:ext>
            </a:extLst>
          </p:cNvPr>
          <p:cNvGraphicFramePr/>
          <p:nvPr/>
        </p:nvGraphicFramePr>
        <p:xfrm>
          <a:off xmlns:a="http://schemas.openxmlformats.org/drawingml/2006/main" x="1143000" y="1952625"/>
          <a:ext xmlns:a="http://schemas.openxmlformats.org/drawingml/2006/main" cx="99060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4953000"/>
              </a:tblGrid>
              <a:tr h="73818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7FAFF"/>
                          </a:solidFill>
                        </a:rPr>
                        <a:t>Browser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15B96"/>
                      </a:solidFill>
                      <a:prstDash val="solid"/>
                    </a:lnL>
                    <a:lnR w="9525">
                      <a:solidFill>
                        <a:srgbClr val="315B96"/>
                      </a:solidFill>
                      <a:prstDash val="solid"/>
                    </a:lnR>
                    <a:lnT w="9525">
                      <a:solidFill>
                        <a:srgbClr val="315B96"/>
                      </a:solidFill>
                      <a:prstDash val="solid"/>
                    </a:lnT>
                    <a:lnB w="9525">
                      <a:solidFill>
                        <a:srgbClr val="315B96"/>
                      </a:solidFill>
                      <a:prstDash val="solid"/>
                    </a:lnB>
                    <a:solidFill>
                      <a:srgbClr val="123D7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7FAFF"/>
                          </a:solidFill>
                        </a:rPr>
                        <a:t>Search engine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15B96"/>
                      </a:solidFill>
                      <a:prstDash val="solid"/>
                    </a:lnR>
                    <a:lnT w="9525">
                      <a:solidFill>
                        <a:srgbClr val="315B96"/>
                      </a:solidFill>
                      <a:prstDash val="solid"/>
                    </a:lnT>
                    <a:lnB w="9525">
                      <a:solidFill>
                        <a:srgbClr val="315B96"/>
                      </a:solidFill>
                      <a:prstDash val="solid"/>
                    </a:lnB>
                    <a:solidFill>
                      <a:srgbClr val="123D76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8C7E2"/>
                          </a:solidFill>
                        </a:rPr>
                        <a:t>Software application used on a device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15B96"/>
                      </a:solidFill>
                      <a:prstDash val="solid"/>
                    </a:lnL>
                    <a:lnR w="9525">
                      <a:solidFill>
                        <a:srgbClr val="315B96"/>
                      </a:solidFill>
                      <a:prstDash val="solid"/>
                    </a:lnR>
                    <a:lnB w="9525">
                      <a:solidFill>
                        <a:srgbClr val="315B96"/>
                      </a:solidFill>
                      <a:prstDash val="solid"/>
                    </a:lnB>
                    <a:solidFill>
                      <a:srgbClr val="0C25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8C7E2"/>
                          </a:solidFill>
                        </a:rPr>
                        <a:t>Online service that helps users discover information and websites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15B96"/>
                      </a:solidFill>
                      <a:prstDash val="solid"/>
                    </a:lnR>
                    <a:lnB w="9525">
                      <a:solidFill>
                        <a:srgbClr val="315B96"/>
                      </a:solidFill>
                      <a:prstDash val="solid"/>
                    </a:lnB>
                    <a:solidFill>
                      <a:srgbClr val="0C254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8C7E2"/>
                          </a:solidFill>
                        </a:rPr>
                        <a:t>Opens and interacts with websites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15B96"/>
                      </a:solidFill>
                      <a:prstDash val="solid"/>
                    </a:lnL>
                    <a:lnR w="9525">
                      <a:solidFill>
                        <a:srgbClr val="315B96"/>
                      </a:solidFill>
                      <a:prstDash val="solid"/>
                    </a:lnR>
                    <a:lnB w="9525">
                      <a:solidFill>
                        <a:srgbClr val="315B96"/>
                      </a:solidFill>
                      <a:prstDash val="solid"/>
                    </a:lnB>
                    <a:solidFill>
                      <a:srgbClr val="0C25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8C7E2"/>
                          </a:solidFill>
                        </a:rPr>
                        <a:t>Uses an index to return relevant results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15B96"/>
                      </a:solidFill>
                      <a:prstDash val="solid"/>
                    </a:lnR>
                    <a:lnB w="9525">
                      <a:solidFill>
                        <a:srgbClr val="315B96"/>
                      </a:solidFill>
                      <a:prstDash val="solid"/>
                    </a:lnB>
                    <a:solidFill>
                      <a:srgbClr val="0C254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8C7E2"/>
                          </a:solidFill>
                        </a:rPr>
                        <a:t>Chrome, Firefox, Safari, Edge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315B96"/>
                      </a:solidFill>
                      <a:prstDash val="solid"/>
                    </a:lnL>
                    <a:lnR w="9525">
                      <a:solidFill>
                        <a:srgbClr val="315B96"/>
                      </a:solidFill>
                      <a:prstDash val="solid"/>
                    </a:lnR>
                    <a:lnB w="9525">
                      <a:solidFill>
                        <a:srgbClr val="315B96"/>
                      </a:solidFill>
                      <a:prstDash val="solid"/>
                    </a:lnB>
                    <a:solidFill>
                      <a:srgbClr val="0C25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8C7E2"/>
                          </a:solidFill>
                        </a:rPr>
                        <a:t>Google Search, Bing, DuckDuckGo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315B96"/>
                      </a:solidFill>
                      <a:prstDash val="solid"/>
                    </a:lnR>
                    <a:lnB w="9525">
                      <a:solidFill>
                        <a:srgbClr val="315B96"/>
                      </a:solidFill>
                      <a:prstDash val="solid"/>
                    </a:lnB>
                    <a:solidFill>
                      <a:srgbClr val="0C254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2C2A0F-C33D-47A1-B712-9D5D82C8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3528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D3E"/>
          </a:solidFill>
          <a:ln xmlns:a="http://schemas.openxmlformats.org/drawingml/2006/main" w="19050">
            <a:solidFill>
              <a:srgbClr val="A780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5B4EFD-92C2-4B1F-ADAD-EFCE597C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524250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9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900" b="1">
                <a:solidFill>
                  <a:srgbClr val="F7FAFF"/>
                </a:solidFill>
              </a:defRPr>
            </a:pPr>
            <a:r>
              <a:rPr sz="900" b="1">
                <a:solidFill>
                  <a:srgbClr val="F7FAFF"/>
                </a:solidFill>
              </a:rPr>
              <a:t>VS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98A1D-65CD-43FC-8DC7-63085EE5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81625"/>
            <a:ext cx="8286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23C70"/>
          </a:solidFill>
          <a:ln xmlns:a="http://schemas.openxmlformats.org/drawingml/2006/main" w="9525">
            <a:solidFill>
              <a:srgbClr val="2F83B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C9F85-AFE0-4F54-9C23-4DD796D53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81625"/>
            <a:ext cx="381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564CB-4B96-4C22-B67C-C4286650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495925"/>
            <a:ext cx="79629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E7FB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E7FBFF"/>
                </a:solidFill>
              </a:defRPr>
            </a:pPr>
            <a:r>
              <a:rPr sz="1200" b="1">
                <a:solidFill>
                  <a:srgbClr val="E7FBFF"/>
                </a:solidFill>
              </a:rPr>
              <a:t>Google Chrome is a browser; Google Search is a search engine.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BAA2D-7B85-4B39-9036-42D30188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l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INTRODUCTION TO WEB DEVELOPMENT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D9594-84C3-4C1A-A62B-81E1DE0D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031017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D93545-DF6B-4F02-803A-7A8C3C723338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10334625" y="2833688"/>
            <a:ext cx="333375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A780FF"/>
            </a:solidFill>
            <a:prstDash val="solid"/>
            <a:head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183C7B-14EB-42A1-B9CF-5312B50092A4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7905750" y="2833688"/>
            <a:ext cx="666750" cy="214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4D7FF"/>
            </a:solidFill>
            <a:prstDash val="solid"/>
            <a:head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93E122-603C-48A9-9225-47840021D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06 · REQUEST ORIGIN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B7987-E83D-4E32-AE62-605B0563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7FAFF"/>
                </a:solidFill>
              </a:defRPr>
            </a:pPr>
            <a:r>
              <a:rPr sz="3000" b="1">
                <a:solidFill>
                  <a:srgbClr val="F7FAFF"/>
                </a:solidFill>
              </a:rPr>
              <a:t>Client: Definition and Role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E3D50-C52B-4D28-80BF-5F5C5A9B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6CFAC-FE21-4576-825D-0E5CBDBE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4857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B8C7E2"/>
                </a:solidFill>
              </a:defRPr>
            </a:pPr>
            <a:r>
              <a:rPr sz="1725" b="0">
                <a:solidFill>
                  <a:srgbClr val="B8C7E2"/>
                </a:solidFill>
              </a:rPr>
              <a:t>A client is a device or software application that sends requests to a server for data or services.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CA1BC-EAAC-41CF-8905-3AA968C1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57525"/>
            <a:ext cx="13335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44E"/>
          </a:solidFill>
          <a:ln xmlns:a="http://schemas.openxmlformats.org/drawingml/2006/main" w="9525">
            <a:solidFill>
              <a:srgbClr val="44D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675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44D7FF"/>
                </a:solidFill>
              </a:defRPr>
            </a:pPr>
            <a:r>
              <a:rPr sz="675" b="1">
                <a:solidFill>
                  <a:srgbClr val="44D7FF"/>
                </a:solidFill>
              </a:rPr>
              <a:t>LAPTOP BROWSER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28A38-AE58-4380-BC30-6E70A997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57525"/>
            <a:ext cx="11811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44E"/>
          </a:solidFill>
          <a:ln xmlns:a="http://schemas.openxmlformats.org/drawingml/2006/main" w="9525">
            <a:solidFill>
              <a:srgbClr val="A780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675" b="1">
                <a:solidFill>
                  <a:srgbClr val="A780FF"/>
                </a:solidFill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A780FF"/>
                </a:solidFill>
              </a:defRPr>
            </a:pPr>
            <a:r>
              <a:rPr sz="675" b="1">
                <a:solidFill>
                  <a:srgbClr val="A780FF"/>
                </a:solidFill>
              </a:rPr>
              <a:t>MOBILE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ADB3E-BE42-43C7-BEA2-8AFB3300B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057525"/>
            <a:ext cx="1143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44E"/>
          </a:solidFill>
          <a:ln xmlns:a="http://schemas.openxmlformats.org/drawingml/2006/main" w="9525">
            <a:solidFill>
              <a:srgbClr val="77F3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675" b="1">
                <a:solidFill>
                  <a:srgbClr val="77F3D0"/>
                </a:solidFill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77F3D0"/>
                </a:solidFill>
              </a:defRPr>
            </a:pPr>
            <a:r>
              <a:rPr sz="675" b="1">
                <a:solidFill>
                  <a:srgbClr val="77F3D0"/>
                </a:solidFill>
              </a:rPr>
              <a:t>EMAIL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780DB-9A0D-45D1-9DB4-134BC7B1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433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7FAFF"/>
                </a:solidFill>
              </a:defRPr>
            </a:pPr>
            <a:r>
              <a:rPr sz="1200" b="1">
                <a:solidFill>
                  <a:srgbClr val="F7FAFF"/>
                </a:solidFill>
              </a:rPr>
              <a:t>Client responsibilities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97DF99-EBEB-44DE-A1BA-BF58BD8F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CA6AC-E9FF-4D26-BE36-CB9F5701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8C7E2"/>
                </a:solidFill>
              </a:defRPr>
            </a:pPr>
            <a:r>
              <a:rPr sz="1050" b="0">
                <a:solidFill>
                  <a:srgbClr val="B8C7E2"/>
                </a:solidFill>
              </a:rPr>
              <a:t>Sends requests to servers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E39E7-C991-4C2F-85E3-11F93DAC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84619-30FD-4D67-B1EF-C4B440D5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8C7E2"/>
                </a:solidFill>
              </a:defRPr>
            </a:pPr>
            <a:r>
              <a:rPr sz="1050" b="0">
                <a:solidFill>
                  <a:srgbClr val="B8C7E2"/>
                </a:solidFill>
              </a:rPr>
              <a:t>Displays received information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A5FAF-D021-4BE5-89C5-246180F4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C5146F-96E8-4ED2-B38D-6C8C28A4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8C7E2"/>
                </a:solidFill>
              </a:defRPr>
            </a:pPr>
            <a:r>
              <a:rPr sz="1050" b="0">
                <a:solidFill>
                  <a:srgbClr val="B8C7E2"/>
                </a:solidFill>
              </a:rPr>
              <a:t>Collects user 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7206BC-010C-4CA5-A96B-9445FCA3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933E1-3DFB-4866-81A8-AB74ED35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57775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8C7E2"/>
                </a:solidFill>
              </a:defRPr>
            </a:pPr>
            <a:r>
              <a:rPr sz="1050" b="0">
                <a:solidFill>
                  <a:srgbClr val="B8C7E2"/>
                </a:solidFill>
              </a:rPr>
              <a:t>Communicates with backend APIs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3DB5E3-E799-4C05-B8FA-C2005B22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1238250" cy="133350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CC3A1-5927-4A99-B44A-B037844B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5336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44D7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6E65B-D636-4CBA-B5B9-45C55719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71800"/>
            <a:ext cx="1047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User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C68C24-9D18-4D2B-9D39-0CB4D959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9925"/>
            <a:ext cx="104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Chooses a page or action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03A8F9-9643-4508-9D4E-0687F3AF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1762125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EB4D77-04F0-420D-890E-4621457F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113" y="21050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A780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A945F1-C2D9-454E-BCD7-E538F2EC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543175"/>
            <a:ext cx="1571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Browser client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B1A08D-8C99-45CB-B79B-EF78489A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81300"/>
            <a:ext cx="1571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Displays info and sends requests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7B719-25A7-47DC-BAB8-51564FE5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71750"/>
            <a:ext cx="1000125" cy="11906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D86C7A-ECBB-4E10-9FE4-5CA148BB1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6613" y="2724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77F3D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3B0538-61A7-48D4-AF8B-4DFAA524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62300"/>
            <a:ext cx="809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Server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66F676-D6AE-45E3-A5F7-4C9E7364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400425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Returns data or services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343A85-0E14-40BE-B90C-FEDE4102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9875"/>
            <a:ext cx="619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44D7FF"/>
                </a:solidFill>
              </a:defRPr>
            </a:pPr>
            <a:r>
              <a:rPr sz="750" b="0">
                <a:solidFill>
                  <a:srgbClr val="44D7FF"/>
                </a:solidFill>
              </a:rPr>
              <a:t>request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67C28F-288D-44F0-B5FA-6D6489EB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781300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A780FF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A780FF"/>
                </a:solidFill>
              </a:defRPr>
            </a:pPr>
            <a:r>
              <a:rPr sz="750" b="0">
                <a:solidFill>
                  <a:srgbClr val="A780FF"/>
                </a:solidFill>
              </a:rPr>
              <a:t>API request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EC7AF30-D40A-4E8D-AB7A-576B454C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4905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23C70"/>
          </a:solidFill>
          <a:ln xmlns:a="http://schemas.openxmlformats.org/drawingml/2006/main" w="9525">
            <a:solidFill>
              <a:srgbClr val="2F83B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143C92-1F9B-4D47-937E-94906484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381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442D7B-238D-471D-A72D-0883B8B6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05425"/>
            <a:ext cx="4581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E7FB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E7FBFF"/>
                </a:solidFill>
              </a:defRPr>
            </a:pPr>
            <a:r>
              <a:rPr sz="1200" b="1">
                <a:solidFill>
                  <a:srgbClr val="E7FBFF"/>
                </a:solidFill>
              </a:rPr>
              <a:t>The client initiates requests; the server responds to those requests.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3D9C2C9-6D4E-4C8D-847B-01B21DC9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l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INTRODUCTION TO WEB DEVELOPMENT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31264F-2102-4867-ABBE-A4C6D601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5442833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003CBF6-29E3-4F08-99AD-C772D339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07 · THE SERVICE PROVIDER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771F2-FF2F-420F-894D-FFE623ED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7FAFF"/>
                </a:solidFill>
              </a:defRPr>
            </a:pPr>
            <a:r>
              <a:rPr sz="3000" b="1">
                <a:solidFill>
                  <a:srgbClr val="F7FAFF"/>
                </a:solidFill>
              </a:rPr>
              <a:t>Server: Definition and Types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D550D-B4C7-4118-A665-33C82EF2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6C3F35-4289-4FEE-9BED-7FC45650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904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8C7E2"/>
                </a:solidFill>
              </a:defRPr>
            </a:pPr>
            <a:r>
              <a:rPr sz="1500" b="0">
                <a:solidFill>
                  <a:srgbClr val="B8C7E2"/>
                </a:solidFill>
              </a:rPr>
              <a:t>A server is a hardware system or software program that processes client requests and provides data, resources, or services over a network.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4BC487-C58C-47CD-A166-5C3C4C7D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885950" cy="2038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97E857-9EA0-4C75-A85A-47007B9E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885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2F0DB-3F27-4D2B-9DBF-54099F65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D73"/>
          </a:solidFill>
          <a:ln xmlns:a="http://schemas.openxmlformats.org/drawingml/2006/main" w="19050">
            <a:solidFill>
              <a:srgbClr val="44D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6F1129-136A-4258-8FE9-3D43ECD8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7FAFF"/>
                </a:solidFill>
              </a:defRPr>
            </a:pPr>
            <a:r>
              <a:rPr sz="1200" b="1">
                <a:solidFill>
                  <a:srgbClr val="F7FAFF"/>
                </a:solidFill>
              </a:rPr>
              <a:t>Web server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58B1E6-F63C-40FC-8109-9F5E9FC8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82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B8C7E2"/>
                </a:solidFill>
              </a:defRPr>
            </a:pPr>
            <a:r>
              <a:rPr sz="825" b="0">
                <a:solidFill>
                  <a:srgbClr val="B8C7E2"/>
                </a:solidFill>
              </a:rPr>
              <a:t>Delivers website resources and HTTP responses. Apache, Nginx.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167F65-EB11-4BC3-B98F-273CFD03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62250"/>
            <a:ext cx="1885950" cy="2038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F61901-591C-4A72-BB62-998B8FAB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762250"/>
            <a:ext cx="1885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80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A4D3B-18F5-4830-A983-0DD4D3FE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D73"/>
          </a:solidFill>
          <a:ln xmlns:a="http://schemas.openxmlformats.org/drawingml/2006/main" w="19050">
            <a:solidFill>
              <a:srgbClr val="A78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685617-9ABE-4B18-88B6-C692DDF2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195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7FAFF"/>
                </a:solidFill>
              </a:defRPr>
            </a:pPr>
            <a:r>
              <a:rPr sz="1200" b="1">
                <a:solidFill>
                  <a:srgbClr val="F7FAFF"/>
                </a:solidFill>
              </a:rPr>
              <a:t>Database 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2D8DF-CD4A-4BBD-9651-848C1140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957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82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B8C7E2"/>
                </a:solidFill>
              </a:defRPr>
            </a:pPr>
            <a:r>
              <a:rPr sz="825" b="0">
                <a:solidFill>
                  <a:srgbClr val="B8C7E2"/>
                </a:solidFill>
              </a:rPr>
              <a:t>Stores and retrieves data. MySQL, PostgreSQL, MongoDB.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2A722-D0F6-4935-9647-A0407A58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62250"/>
            <a:ext cx="1885950" cy="2038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EE3A47-9DB6-45A1-B007-65405E953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62250"/>
            <a:ext cx="1885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F3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5E1BA-2693-40F2-B8DB-8104F3F9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D73"/>
          </a:solidFill>
          <a:ln xmlns:a="http://schemas.openxmlformats.org/drawingml/2006/main" w="19050">
            <a:solidFill>
              <a:srgbClr val="77F3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E3623-CC3E-4828-A275-63B431C4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195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7FAFF"/>
                </a:solidFill>
              </a:defRPr>
            </a:pPr>
            <a:r>
              <a:rPr sz="1200" b="1">
                <a:solidFill>
                  <a:srgbClr val="F7FAFF"/>
                </a:solidFill>
              </a:rPr>
              <a:t>Application server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0C696-E433-4C3D-80AD-2F53AC08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957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82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B8C7E2"/>
                </a:solidFill>
              </a:defRPr>
            </a:pPr>
            <a:r>
              <a:rPr sz="825" b="0">
                <a:solidFill>
                  <a:srgbClr val="B8C7E2"/>
                </a:solidFill>
              </a:rPr>
              <a:t>Runs application logic and business rules.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40A18-2C8F-40E6-9F5E-67B2B348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62250"/>
            <a:ext cx="1885950" cy="2038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C3C5E-0090-4598-BFA0-A7A878C8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62250"/>
            <a:ext cx="1885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C9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8A6B3F-6D02-477F-A4A1-515BBA64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D73"/>
          </a:solidFill>
          <a:ln xmlns:a="http://schemas.openxmlformats.org/drawingml/2006/main" w="19050">
            <a:solidFill>
              <a:srgbClr val="F4C9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CD8D0C-76B7-4559-98B4-FB6100FE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6195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7FAFF"/>
                </a:solidFill>
              </a:defRPr>
            </a:pPr>
            <a:r>
              <a:rPr sz="1200" b="1">
                <a:solidFill>
                  <a:srgbClr val="F7FAFF"/>
                </a:solidFill>
              </a:rPr>
              <a:t>File server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7B9647-AEF8-4523-84E2-FB5C9432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957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82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B8C7E2"/>
                </a:solidFill>
              </a:defRPr>
            </a:pPr>
            <a:r>
              <a:rPr sz="825" b="0">
                <a:solidFill>
                  <a:srgbClr val="B8C7E2"/>
                </a:solidFill>
              </a:rPr>
              <a:t>Stores and shares files and backups.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630BB7-7334-4121-A812-276617FD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1885950" cy="2038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83A5A1-3F84-47E3-9351-B48746C2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62250"/>
            <a:ext cx="1885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58C3E3-A69D-4A3B-8FFD-FF564358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3D73"/>
          </a:solidFill>
          <a:ln xmlns:a="http://schemas.openxmlformats.org/drawingml/2006/main" w="19050">
            <a:solidFill>
              <a:srgbClr val="FA8C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30756B-1265-4A97-AEDC-24566C2B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19500"/>
            <a:ext cx="156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F7FAFF"/>
                </a:solidFill>
              </a:defRPr>
            </a:pPr>
            <a:r>
              <a:rPr sz="1200" b="1">
                <a:solidFill>
                  <a:srgbClr val="F7FAFF"/>
                </a:solidFill>
              </a:rPr>
              <a:t>Mail server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16FE48-B740-4F33-B2E7-E548956C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95750"/>
            <a:ext cx="1543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82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B8C7E2"/>
                </a:solidFill>
              </a:defRPr>
            </a:pPr>
            <a:r>
              <a:rPr sz="825" b="0">
                <a:solidFill>
                  <a:srgbClr val="B8C7E2"/>
                </a:solidFill>
              </a:rPr>
              <a:t>Handles email sending, receiving, and storage.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1F81CD-4259-4E5F-B43A-E8FBA8B4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76875"/>
            <a:ext cx="9239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23C70"/>
          </a:solidFill>
          <a:ln xmlns:a="http://schemas.openxmlformats.org/drawingml/2006/main" w="9525">
            <a:solidFill>
              <a:srgbClr val="2F83B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E5E08F-9956-4065-ABBF-13DF76D4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476875"/>
            <a:ext cx="38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CD44F3-E7F7-4C08-B060-B6AE2C56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91175"/>
            <a:ext cx="8915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E7FB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E7FBFF"/>
                </a:solidFill>
              </a:defRPr>
            </a:pPr>
            <a:r>
              <a:rPr sz="1200" b="1">
                <a:solidFill>
                  <a:srgbClr val="E7FBFF"/>
                </a:solidFill>
              </a:rPr>
              <a:t>A server receives requests, processes them, and returns appropriate responses.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7FE68B-A5B8-459E-AAD9-56E0AE23A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l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INTRODUCTION TO WEB DEVELOPMENT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B40D6F-5306-4896-ADCE-034A4BEA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09489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D025EF-D01E-4A98-AAB2-5CF5E4E8C72A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8620125" y="3209925"/>
            <a:ext cx="857250" cy="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77F3D0"/>
            </a:solidFill>
            <a:prstDash val="solid"/>
            <a:head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048005-F907-43F2-9A28-EB3A6CD66228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381750" y="321468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780FF"/>
            </a:solidFill>
            <a:prstDash val="solid"/>
            <a:head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362480-E1EE-440B-B797-00F102D17206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143375" y="321468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4D7FF"/>
            </a:solidFill>
            <a:prstDash val="solid"/>
            <a:head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CFBF4D-CBAC-4ED7-B64E-152102749536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1857375" y="3214688"/>
            <a:ext cx="904875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4D7FF"/>
            </a:solidFill>
            <a:prstDash val="solid"/>
            <a:head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56E2F2-D3B2-4A65-A174-39456C24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08 · FUNDAMENTAL WEB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008D7-E52D-440F-A5C0-DA2259EF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7FAFF"/>
                </a:solidFill>
              </a:defRPr>
            </a:pPr>
            <a:r>
              <a:rPr sz="3000" b="1">
                <a:solidFill>
                  <a:srgbClr val="F7FAFF"/>
                </a:solidFill>
              </a:rPr>
              <a:t>Client–Server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025DD-8569-4C94-85A7-2D26CB25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9CA58-892E-4D87-89F4-71B037D13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1906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AF4CC-BDE8-4398-834F-7B9790E1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3" y="28003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44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60599-0C7B-46A8-BE32-9923174F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001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User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6B835-34AB-47F3-A0B4-CE88DD59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428875"/>
            <a:ext cx="1381125" cy="15716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A11FAD-828D-456D-9C1D-9CB85E24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1363" y="2581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44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AF1D0-1CF1-4652-A9F2-7A650686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19425"/>
            <a:ext cx="1190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Browser client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48A94-D2C3-46D2-854C-A4B50B84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Sends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F092D-C26C-4101-A93A-7C76E70C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428875"/>
            <a:ext cx="1381125" cy="15716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2F60A-90AB-4F2D-ABFE-7CF6329B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9738" y="2581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A780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71D859-267F-43A6-ACDB-F6CE2677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019425"/>
            <a:ext cx="1190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Internet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3337A-92F4-478F-9EF3-E0BA25ED2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25755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Transfers packets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DF01C4-02D1-45D7-AA63-1394977D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28875"/>
            <a:ext cx="1381125" cy="15716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73790C-6C12-4A30-BEAA-95B570F4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8113" y="25812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77F3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703B8-8C1A-4068-AD8E-79040504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19425"/>
            <a:ext cx="11906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Web server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FCFD1-1429-4AAE-8FBD-D6654CD9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57550"/>
            <a:ext cx="1190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Processes request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0888EE-8F52-4F20-AA9C-95BDF43DA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05050"/>
            <a:ext cx="1809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0DC08-1175-4470-8FBF-CA733256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57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F4C9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44C30-F2C9-42A8-B9C6-5D18A75A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895600"/>
            <a:ext cx="1619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Application logic</a:t>
            </a:r>
          </a:p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&amp; database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EF6723-F8CF-42DB-AB7B-F4E109A6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133725"/>
            <a:ext cx="161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Runs logic and gets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FCD487-28D5-43DE-A490-769BC640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2098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44D7FF"/>
                </a:solidFill>
              </a:defRPr>
            </a:pPr>
            <a:r>
              <a:rPr sz="750" b="0">
                <a:solidFill>
                  <a:srgbClr val="44D7FF"/>
                </a:solidFill>
              </a:rPr>
              <a:t>request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8E332D-9AEC-4CC3-832B-91D2EC395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098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44D7FF"/>
                </a:solidFill>
              </a:defRPr>
            </a:pPr>
            <a:r>
              <a:rPr sz="750" b="0">
                <a:solidFill>
                  <a:srgbClr val="44D7FF"/>
                </a:solidFill>
              </a:rPr>
              <a:t>HTTPS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00CDD2-1E7A-4A5C-8724-D5C1BAA7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A780FF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A780FF"/>
                </a:solidFill>
              </a:defRPr>
            </a:pPr>
            <a:r>
              <a:rPr sz="750" b="0">
                <a:solidFill>
                  <a:srgbClr val="A780FF"/>
                </a:solidFill>
              </a:rPr>
              <a:t>request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A0E38C-5518-40A9-BDB9-63E32000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098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44D7FF"/>
                </a:solidFill>
              </a:defRPr>
            </a:pPr>
            <a:r>
              <a:rPr sz="750" b="0">
                <a:solidFill>
                  <a:srgbClr val="44D7FF"/>
                </a:solidFill>
              </a:rPr>
              <a:t>data</a:t>
            </a:r>
          </a:p>
        </p:txBody>
      </p: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FE500C-93A8-4DB1-B355-40630AA986B9}"/>
              </a:ext>
            </a:extLst>
          </p:cNvPr>
          <p:cNvCxnSpPr/>
          <p:nvPr/>
        </p:nvCxnSpPr>
        <p:spPr>
          <a:xfrm xmlns:a="http://schemas.openxmlformats.org/drawingml/2006/main">
            <a:off x="1504950" y="4600575"/>
            <a:ext cx="8877300" cy="5334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A780FF"/>
            </a:solidFill>
            <a:prstDash val="dash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0920DF-2347-4993-850C-CBA3622F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10150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825" b="0">
                <a:solidFill>
                  <a:srgbClr val="D8C9FF"/>
                </a:solidFill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D8C9FF"/>
                </a:solidFill>
              </a:defRPr>
            </a:pPr>
            <a:r>
              <a:rPr sz="825" b="0">
                <a:solidFill>
                  <a:srgbClr val="D8C9FF"/>
                </a:solidFill>
              </a:rPr>
              <a:t>server response returns to the browser, then the browser renders it for the user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4CA8AE-8F82-4B9B-B2D2-420FD481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928687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23C70"/>
          </a:solidFill>
          <a:ln xmlns:a="http://schemas.openxmlformats.org/drawingml/2006/main" w="9525">
            <a:solidFill>
              <a:srgbClr val="2F83B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58F65C-A85A-4696-9AF2-B0963E2C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67375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CE1983-D017-423B-9936-577DF479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781675"/>
            <a:ext cx="896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E7FB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E7FBFF"/>
                </a:solidFill>
              </a:defRPr>
            </a:pPr>
            <a:r>
              <a:rPr sz="1200" b="1">
                <a:solidFill>
                  <a:srgbClr val="E7FBFF"/>
                </a:solidFill>
              </a:rPr>
              <a:t>Most interactive websites depend on communication between clients, servers, and often databases.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F69F722-871C-4640-8BA5-8CFAB9B3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l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INTRODUCTION TO WEB DEVELOPMENT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EA02FF-1DD1-4200-9AC8-6B7BC82F6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8026899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5FE41F-D767-4A3B-B7FB-4E1BCFDDB380}"/>
              </a:ext>
            </a:extLst>
          </p:cNvPr>
          <p:cNvCxnSpPr>
            <a:stCxn xmlns:a="http://schemas.openxmlformats.org/drawingml/2006/main" id="3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 flipV="1">
            <a:off x="8905875" y="3157538"/>
            <a:ext cx="952500" cy="200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4D7FF"/>
            </a:solidFill>
            <a:prstDash val="solid"/>
            <a:headEnd type="triangle" w="sm" len="sm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A74029-2CC1-4FBD-ADEC-17BD6CDC6585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10477500" y="3800475"/>
            <a:ext cx="0" cy="438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7F3D0"/>
            </a:solidFill>
            <a:prstDash val="solid"/>
            <a:headEnd type="triangle" w="sm" len="sm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D2886B-F074-4317-B1A0-01CEBB78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09 · IN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9EDFB-90B1-493E-8F8D-AB825506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7FAFF"/>
                </a:solidFill>
              </a:defRPr>
            </a:pPr>
            <a:r>
              <a:rPr sz="3000" b="1">
                <a:solidFill>
                  <a:srgbClr val="F7FAFF"/>
                </a:solidFill>
              </a:rPr>
              <a:t>Online Shopping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4B2FD-52FC-49B0-982B-EB69073A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B6B72-4F3C-4821-AC29-01E62439B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B8C7E2"/>
                </a:solidFill>
              </a:defRPr>
            </a:pPr>
            <a:r>
              <a:rPr sz="1500" b="0">
                <a:solidFill>
                  <a:srgbClr val="B8C7E2"/>
                </a:solidFill>
              </a:rPr>
              <a:t>A product search shows how the Internet, browser, client, and server work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185C3-EE49-438A-B850-6114F1A8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E71"/>
          </a:solidFill>
          <a:ln xmlns:a="http://schemas.openxmlformats.org/drawingml/2006/main" w="9525">
            <a:solidFill>
              <a:srgbClr val="44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C826BD-A487-46F3-AEC7-E892D79E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CD416-005F-4790-9115-8B1189EB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955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8C7E2"/>
                </a:solidFill>
              </a:defRPr>
            </a:pPr>
            <a:r>
              <a:rPr sz="1050" b="0">
                <a:solidFill>
                  <a:srgbClr val="B8C7E2"/>
                </a:solidFill>
              </a:rPr>
              <a:t>User opens a browser and visits a shop.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E03CF-47C9-4D7C-AF2F-B79A9C09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E71"/>
          </a:solidFill>
          <a:ln xmlns:a="http://schemas.openxmlformats.org/drawingml/2006/main" w="9525">
            <a:solidFill>
              <a:srgbClr val="44D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596149-A6F3-474B-91B8-89F560585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FC8D7F-22AC-4339-8530-39C6B089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8C7E2"/>
                </a:solidFill>
              </a:defRPr>
            </a:pPr>
            <a:r>
              <a:rPr sz="1050" b="0">
                <a:solidFill>
                  <a:srgbClr val="B8C7E2"/>
                </a:solidFill>
              </a:rPr>
              <a:t>The browser uses the Internet to reach the website.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567B7-E030-4076-8699-FA9D6BFB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719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E71"/>
          </a:solidFill>
          <a:ln xmlns:a="http://schemas.openxmlformats.org/drawingml/2006/main" w="9525">
            <a:solidFill>
              <a:srgbClr val="44D7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F9617-2896-4730-BF04-2906F62D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952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92DC1-4E1D-4F08-9694-21F09F14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433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8C7E2"/>
                </a:solidFill>
              </a:defRPr>
            </a:pPr>
            <a:r>
              <a:rPr sz="1050" b="0">
                <a:solidFill>
                  <a:srgbClr val="B8C7E2"/>
                </a:solidFill>
              </a:rPr>
              <a:t>The browser client requests product information.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7DACCA-A110-41C3-B1C2-8BC21DB9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E71"/>
          </a:solidFill>
          <a:ln xmlns:a="http://schemas.openxmlformats.org/drawingml/2006/main" w="9525">
            <a:solidFill>
              <a:srgbClr val="44D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84A93-C923-44A1-A06B-7075B2D1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5B3A54-46BB-453D-B460-9C17E648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8C7E2"/>
                </a:solidFill>
              </a:defRPr>
            </a:pPr>
            <a:r>
              <a:rPr sz="1050" b="0">
                <a:solidFill>
                  <a:srgbClr val="B8C7E2"/>
                </a:solidFill>
              </a:rPr>
              <a:t>The server gets product details from a database.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857C5D-9C3D-4F9B-9E0B-B6BCCF89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E71"/>
          </a:solidFill>
          <a:ln xmlns:a="http://schemas.openxmlformats.org/drawingml/2006/main" w="9525">
            <a:solidFill>
              <a:srgbClr val="44D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868BDA-2772-4AC7-A7C9-2803D85EA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ctr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F65EE8-1A6B-4487-ABEC-ABB63B1C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B8C7E2"/>
                </a:solidFill>
              </a:defRPr>
            </a:pPr>
            <a:r>
              <a:rPr sz="1050" b="0">
                <a:solidFill>
                  <a:srgbClr val="B8C7E2"/>
                </a:solidFill>
              </a:rPr>
              <a:t>The browser displays products on screen.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6688F1-A034-45B8-BB83-E280CFA4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2190750" cy="266700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0F326B"/>
          </a:solidFill>
          <a:ln xmlns:a="http://schemas.openxmlformats.org/drawingml/2006/main" w="9525">
            <a:solidFill>
              <a:srgbClr val="4E92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296566-A18C-47BC-8393-C29A2A1B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47875"/>
            <a:ext cx="2190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4E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648BB7-F266-4527-B0B4-162076B4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143125"/>
            <a:ext cx="8096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F7FAFF"/>
                </a:solidFill>
              </a:defRPr>
            </a:pPr>
            <a:r>
              <a:rPr sz="750" b="1">
                <a:solidFill>
                  <a:srgbClr val="F7FAFF"/>
                </a:solidFill>
              </a:rPr>
              <a:t>MyStore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3904D-443B-41CA-978C-DD9F3083F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114550"/>
            <a:ext cx="238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F7FAFF"/>
                </a:solidFill>
              </a:defRPr>
            </a:pPr>
            <a:r>
              <a:rPr sz="1200" b="1">
                <a:solidFill>
                  <a:srgbClr val="F7FAFF"/>
                </a:solidFill>
              </a:rPr>
              <a:t>⌕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C1AC08-94F2-43DF-B8AA-2FA69EF0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19375"/>
            <a:ext cx="723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066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CCA13C-776E-43F1-BC69-6A4F37F6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19375"/>
            <a:ext cx="723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543C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279FF8-23CA-449C-A5C2-2F015D0C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0425"/>
            <a:ext cx="723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066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C66315-056B-4AD0-B1A0-DFC82193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400425"/>
            <a:ext cx="7239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543C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ACDF4B-30F3-4ABB-AE5A-8B3F20AE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81500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825" b="1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825" b="1">
                <a:solidFill>
                  <a:srgbClr val="B8C7E2"/>
                </a:solidFill>
              </a:defRPr>
            </a:pPr>
            <a:r>
              <a:rPr sz="825" b="1">
                <a:solidFill>
                  <a:srgbClr val="B8C7E2"/>
                </a:solidFill>
              </a:rPr>
              <a:t>Browser client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EF055B-00B2-46A3-B88B-E850D4B3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514600"/>
            <a:ext cx="1238250" cy="1285875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6F6DE9-311D-4CE2-9335-28FA0EC5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A780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5AF1D4-8E54-4447-9BAE-279839B3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105150"/>
            <a:ext cx="1047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Server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81DAD4-D75F-4691-BBF3-B93E787A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343275"/>
            <a:ext cx="104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Gets product details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B0BDC8-50E0-457F-B701-E728D579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238625"/>
            <a:ext cx="1238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BA68B0-9E67-49DF-A7F4-8A722596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43910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3D72"/>
          </a:solidFill>
          <a:ln xmlns:a="http://schemas.openxmlformats.org/drawingml/2006/main" w="19050">
            <a:solidFill>
              <a:srgbClr val="77F3D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5ED984-85C6-4F84-A72B-73CACE09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829175"/>
            <a:ext cx="1047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11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F7FAFF"/>
                </a:solidFill>
              </a:defRPr>
            </a:pPr>
            <a:r>
              <a:rPr sz="1125" b="1">
                <a:solidFill>
                  <a:srgbClr val="F7FAFF"/>
                </a:solidFill>
              </a:rPr>
              <a:t>Database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440B1C-BBDE-41F8-A0E8-ED275268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67300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ctr">
              <a:defRPr sz="750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ctr">
              <a:defRPr sz="750" b="0">
                <a:solidFill>
                  <a:srgbClr val="B8C7E2"/>
                </a:solidFill>
              </a:defRPr>
            </a:pPr>
            <a:r>
              <a:rPr sz="750" b="0">
                <a:solidFill>
                  <a:srgbClr val="B8C7E2"/>
                </a:solidFill>
              </a:rPr>
              <a:t>Product data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60DFDD-B8C0-4482-A10E-A19C55F60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47625" cy="4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37005C-8B35-4225-8195-C22A11A0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800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750" b="0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44D7FF"/>
                </a:solidFill>
              </a:defRPr>
            </a:pPr>
            <a:r>
              <a:rPr sz="750" b="0">
                <a:solidFill>
                  <a:srgbClr val="44D7FF"/>
                </a:solidFill>
              </a:rPr>
              <a:t>client request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5FDF18-EC71-4AFE-ABAB-6DFD595D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750" b="0">
                <a:solidFill>
                  <a:srgbClr val="A780FF"/>
                </a:solidFill>
              </a:defRPr>
            </a:defPPr>
          </a:lstStyle>
          <a:p xmlns:a="http://schemas.openxmlformats.org/drawingml/2006/main">
            <a:pPr algn="r">
              <a:defRPr sz="750" b="0">
                <a:solidFill>
                  <a:srgbClr val="A780FF"/>
                </a:solidFill>
              </a:defRPr>
            </a:pPr>
            <a:r>
              <a:rPr sz="750" b="0">
                <a:solidFill>
                  <a:srgbClr val="A780FF"/>
                </a:solidFill>
              </a:rPr>
              <a:t>product response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D6386A-4C06-4076-86C6-DEA19446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23C70"/>
          </a:solidFill>
          <a:ln xmlns:a="http://schemas.openxmlformats.org/drawingml/2006/main" w="9525">
            <a:solidFill>
              <a:srgbClr val="2F83B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522BDDF-D9D0-46F8-8BF7-92A0621E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24A2021-53C9-45F3-9414-21148EB4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848350"/>
            <a:ext cx="958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1">
                <a:solidFill>
                  <a:srgbClr val="E7FBFF"/>
                </a:solidFill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E7FBFF"/>
                </a:solidFill>
              </a:defRPr>
            </a:pPr>
            <a:r>
              <a:rPr sz="1200" b="1">
                <a:solidFill>
                  <a:srgbClr val="E7FBFF"/>
                </a:solidFill>
              </a:rPr>
              <a:t>The Internet connects the systems, the browser displays the website, the client sends requests, and the server processes them.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ECEF160-0A08-4C4F-99F5-F3507738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l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INTRODUCTION TO WEB DEVELOPMENT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FCDD29-998C-400F-AB06-50E9E37E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844366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9ACDF9-F0D4-4CB6-8475-626A36EA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"/>
            <a:ext cx="685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750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750" b="1">
                <a:solidFill>
                  <a:srgbClr val="44D7FF"/>
                </a:solidFill>
              </a:defRPr>
            </a:pPr>
            <a:r>
              <a:rPr sz="750" b="1">
                <a:solidFill>
                  <a:srgbClr val="44D7FF"/>
                </a:solidFill>
              </a:rPr>
              <a:t>10 · EXAM PREPARATION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D9563-AFE4-449C-8EBB-BBB8F01F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82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00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F7FAFF"/>
                </a:solidFill>
              </a:defRPr>
            </a:pPr>
            <a:r>
              <a:rPr sz="3000" b="1">
                <a:solidFill>
                  <a:srgbClr val="F7FAFF"/>
                </a:solidFill>
              </a:rPr>
              <a:t>Quick Revision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0744B8-15ED-46ED-852C-A5D355D6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14475"/>
            <a:ext cx="704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EC6B3-5E33-4EBE-82D5-BA0C3581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2476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7DB9D-0861-4A8A-97CA-366922B3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C72"/>
          </a:solidFill>
          <a:ln xmlns:a="http://schemas.openxmlformats.org/drawingml/2006/main" w="19050">
            <a:solidFill>
              <a:srgbClr val="44D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B4A1A-55B0-4637-AAD7-568B28C0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AFF"/>
                </a:solidFill>
              </a:defRPr>
            </a:pPr>
            <a:r>
              <a:rPr sz="1425" b="1">
                <a:solidFill>
                  <a:srgbClr val="F7FAFF"/>
                </a:solidFill>
              </a:rPr>
              <a:t>Internet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92AB2C-B851-434B-883C-67225CB9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8C7E2"/>
                </a:solidFill>
              </a:defRPr>
            </a:pPr>
            <a:r>
              <a:rPr sz="975" b="0">
                <a:solidFill>
                  <a:srgbClr val="B8C7E2"/>
                </a:solidFill>
              </a:rPr>
              <a:t>A global network of interconnected networks.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4486B-7033-486E-AC03-06A8C111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905000"/>
            <a:ext cx="2476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604E38-7DED-4F7B-A485-C1AB4D42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114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C72"/>
          </a:solidFill>
          <a:ln xmlns:a="http://schemas.openxmlformats.org/drawingml/2006/main" w="19050">
            <a:solidFill>
              <a:srgbClr val="A780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CCA5FE-72F3-442D-AF2A-D042916A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8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AFF"/>
                </a:solidFill>
              </a:defRPr>
            </a:pPr>
            <a:r>
              <a:rPr sz="1425" b="1">
                <a:solidFill>
                  <a:srgbClr val="F7FAFF"/>
                </a:solidFill>
              </a:rPr>
              <a:t>Browser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CD42B-AD5F-48B2-BED9-CA358398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57525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8C7E2"/>
                </a:solidFill>
              </a:defRPr>
            </a:pPr>
            <a:r>
              <a:rPr sz="975" b="0">
                <a:solidFill>
                  <a:srgbClr val="B8C7E2"/>
                </a:solidFill>
              </a:rPr>
              <a:t>Software used to access and display websites.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2DC40-EBB4-4CD0-B0A8-FE5D09A6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05000"/>
            <a:ext cx="2476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F5831-032B-4076-BED0-E6030409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C72"/>
          </a:solidFill>
          <a:ln xmlns:a="http://schemas.openxmlformats.org/drawingml/2006/main" w="19050">
            <a:solidFill>
              <a:srgbClr val="77F3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2B7A5B-1CF2-49AD-A746-1CDD7068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8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AFF"/>
                </a:solidFill>
              </a:defRPr>
            </a:pPr>
            <a:r>
              <a:rPr sz="1425" b="1">
                <a:solidFill>
                  <a:srgbClr val="F7FAFF"/>
                </a:solidFill>
              </a:rPr>
              <a:t>Client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A8A30-722C-45E5-9440-36A4BB89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57525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8C7E2"/>
                </a:solidFill>
              </a:defRPr>
            </a:pPr>
            <a:r>
              <a:rPr sz="975" b="0">
                <a:solidFill>
                  <a:srgbClr val="B8C7E2"/>
                </a:solidFill>
              </a:rPr>
              <a:t>A device or application that requests resources.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CA9F87-0E20-4FEB-AEF0-FE54A504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05000"/>
            <a:ext cx="2476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D60"/>
          </a:solidFill>
          <a:ln xmlns:a="http://schemas.openxmlformats.org/drawingml/2006/main" w="9525">
            <a:solidFill>
              <a:srgbClr val="315B9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7FECF-2F53-4DFB-A03A-B45A17BB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145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3C72"/>
          </a:solidFill>
          <a:ln xmlns:a="http://schemas.openxmlformats.org/drawingml/2006/main" w="19050">
            <a:solidFill>
              <a:srgbClr val="F4C9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213BD5-227D-49E9-906F-BEA559AF9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8605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F7FAFF"/>
                </a:solidFill>
              </a:defRPr>
            </a:pPr>
            <a:r>
              <a:rPr sz="1425" b="1">
                <a:solidFill>
                  <a:srgbClr val="F7FAFF"/>
                </a:solidFill>
              </a:rPr>
              <a:t>Server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D18C91-52B6-42D5-A1F6-FF95615E1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57525"/>
            <a:ext cx="2047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B8C7E2"/>
                </a:solidFill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B8C7E2"/>
                </a:solidFill>
              </a:defRPr>
            </a:pPr>
            <a:r>
              <a:rPr sz="975" b="0">
                <a:solidFill>
                  <a:srgbClr val="B8C7E2"/>
                </a:solidFill>
              </a:rPr>
              <a:t>A system that processes requests and provides resources.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DC43DC-2E51-45B7-A37A-185A8093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108966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102C5B"/>
          </a:solidFill>
          <a:ln xmlns:a="http://schemas.openxmlformats.org/drawingml/2006/main" w="9525">
            <a:solidFill>
              <a:srgbClr val="347A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DC769A-A352-4338-8FC4-01F3659D3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43425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44D7FF"/>
                </a:solidFill>
              </a:defRPr>
            </a:pPr>
            <a:r>
              <a:rPr sz="1125" b="1">
                <a:solidFill>
                  <a:srgbClr val="44D7FF"/>
                </a:solidFill>
              </a:rPr>
              <a:t>Quick questions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8CFCDF-7426-4CA4-8612-5C534E45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7FAFF"/>
                </a:solidFill>
              </a:defRPr>
            </a:pPr>
            <a:r>
              <a:rPr sz="1050" b="0">
                <a:solidFill>
                  <a:srgbClr val="F7FAFF"/>
                </a:solidFill>
              </a:rPr>
              <a:t>1. What is the difference between a browser and a search engine?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2F01B2-3EA7-4BE8-9A6E-2CE57259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91075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7FAFF"/>
                </a:solidFill>
              </a:defRPr>
            </a:pPr>
            <a:r>
              <a:rPr sz="1050" b="0">
                <a:solidFill>
                  <a:srgbClr val="F7FAFF"/>
                </a:solidFill>
              </a:rPr>
              <a:t>2. What is the role of TCP/IP?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283703-2ABF-489C-8332-DE257D4A4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05400"/>
            <a:ext cx="781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050" b="0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F7FAFF"/>
                </a:solidFill>
              </a:defRPr>
            </a:pPr>
            <a:r>
              <a:rPr sz="1050" b="0">
                <a:solidFill>
                  <a:srgbClr val="F7FAFF"/>
                </a:solidFill>
              </a:rPr>
              <a:t>3. Explain the client–server model.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8341CD-B2C4-4F17-9431-45580495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2462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l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INTRODUCTION TO WEB DEVELOPMENT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CE07B2-D298-4F45-8806-D29C70A3C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24625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600" b="1">
                <a:solidFill>
                  <a:srgbClr val="6E91C6"/>
                </a:solidFill>
              </a:defRPr>
            </a:defPPr>
          </a:lstStyle>
          <a:p xmlns:a="http://schemas.openxmlformats.org/drawingml/2006/main">
            <a:pPr algn="r">
              <a:defRPr sz="600" b="1">
                <a:solidFill>
                  <a:srgbClr val="6E91C6"/>
                </a:solidFill>
              </a:defRPr>
            </a:pPr>
            <a:r>
              <a:rPr sz="600" b="1">
                <a:solidFill>
                  <a:srgbClr val="6E91C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928280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5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9B3E2-89E8-4A19-8098-6B8B2482FF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4e33b2790a40a1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C1B5B-114B-471D-8653-CD7AE570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F">
              <a:alpha val="7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CC8CE-5D37-4E2B-90D8-664EE1EE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2F">
              <a:alpha val="82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77859-68AA-4DAD-AFE7-4EE28D72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571625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244E"/>
          </a:solidFill>
          <a:ln xmlns:a="http://schemas.openxmlformats.org/drawingml/2006/main" w="9525">
            <a:solidFill>
              <a:srgbClr val="44D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675" b="1">
                <a:solidFill>
                  <a:srgbClr val="44D7FF"/>
                </a:solidFill>
              </a:defRPr>
            </a:defPPr>
          </a:lstStyle>
          <a:p xmlns:a="http://schemas.openxmlformats.org/drawingml/2006/main">
            <a:pPr algn="ctr">
              <a:defRPr sz="675" b="1">
                <a:solidFill>
                  <a:srgbClr val="44D7FF"/>
                </a:solidFill>
              </a:defRPr>
            </a:pPr>
            <a:r>
              <a:rPr sz="675" b="1">
                <a:solidFill>
                  <a:srgbClr val="44D7FF"/>
                </a:solidFill>
              </a:rPr>
              <a:t>END OF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83F8C-DFB0-4CFB-8E87-2D164E7D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5619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950" b="1">
                <a:solidFill>
                  <a:srgbClr val="F7FAFF"/>
                </a:solidFill>
              </a:defRPr>
            </a:defPPr>
          </a:lstStyle>
          <a:p xmlns:a="http://schemas.openxmlformats.org/drawingml/2006/main">
            <a:pPr algn="l">
              <a:defRPr sz="4950" b="1">
                <a:solidFill>
                  <a:srgbClr val="F7FAFF"/>
                </a:solidFill>
              </a:defRPr>
            </a:pPr>
            <a:r>
              <a:rPr sz="4950" b="1">
                <a:solidFill>
                  <a:srgbClr val="F7FAFF"/>
                </a:solidFill>
              </a:rPr>
              <a:t>Thank You!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DC91C-F44F-455E-A1C7-0DE4CC24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23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0">
                <a:solidFill>
                  <a:srgbClr val="D7E6FF"/>
                </a:solidFill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D7E6FF"/>
                </a:solidFill>
              </a:defRPr>
            </a:pPr>
            <a:r>
              <a:rPr sz="1875" b="0">
                <a:solidFill>
                  <a:srgbClr val="D7E6FF"/>
                </a:solidFill>
              </a:rPr>
              <a:t>Questions and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ECC57-8F36-476D-81D6-70522B7A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767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D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454603-D0CE-49ED-BBCD-FDC2DA9B0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1">
                <a:solidFill>
                  <a:srgbClr val="BBD0EF"/>
                </a:solidFill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BBD0EF"/>
                </a:solidFill>
              </a:defRPr>
            </a:pPr>
            <a:r>
              <a:rPr sz="975" b="1">
                <a:solidFill>
                  <a:srgbClr val="BBD0EF"/>
                </a:solidFill>
              </a:rPr>
              <a:t>Internet  ·  Browser  ·  Client  ·  Server</a:t>
            </a:r>
          </a:p>
        </p:txBody>
      </p:sp>
    </p:spTree>
    <p:extLst>
      <p:ext uri="{BB962C8B-B14F-4D97-AF65-F5344CB8AC3E}">
        <p14:creationId xmlns:p14="http://schemas.microsoft.com/office/powerpoint/2010/main" val="1224057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2026-10-13T17:33:44.0340000Z</dcterms:created>
  <dcterms:modified xsi:type="dcterms:W3CDTF">2026-10-13T17:33:44.0340000Z</dcterms:modified>
</coreProperties>
</file>